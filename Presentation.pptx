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7"/>
  </p:notesMasterIdLst>
  <p:sldIdLst>
    <p:sldId id="256" r:id="rId2"/>
    <p:sldId id="258" r:id="rId3"/>
    <p:sldId id="257" r:id="rId4"/>
    <p:sldId id="263" r:id="rId5"/>
    <p:sldId id="264" r:id="rId6"/>
    <p:sldId id="265" r:id="rId7"/>
    <p:sldId id="266" r:id="rId8"/>
    <p:sldId id="267" r:id="rId9"/>
    <p:sldId id="268" r:id="rId10"/>
    <p:sldId id="275" r:id="rId11"/>
    <p:sldId id="276" r:id="rId12"/>
    <p:sldId id="269" r:id="rId13"/>
    <p:sldId id="270" r:id="rId14"/>
    <p:sldId id="283" r:id="rId15"/>
    <p:sldId id="271" r:id="rId16"/>
    <p:sldId id="277" r:id="rId17"/>
    <p:sldId id="278" r:id="rId18"/>
    <p:sldId id="279" r:id="rId19"/>
    <p:sldId id="280" r:id="rId20"/>
    <p:sldId id="281" r:id="rId21"/>
    <p:sldId id="282" r:id="rId22"/>
    <p:sldId id="272" r:id="rId23"/>
    <p:sldId id="273" r:id="rId24"/>
    <p:sldId id="274" r:id="rId25"/>
    <p:sldId id="26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p:scale>
          <a:sx n="75" d="100"/>
          <a:sy n="75" d="100"/>
        </p:scale>
        <p:origin x="246" y="1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1D9817-9951-413D-94E8-CDA301AE4B4D}" type="datetimeFigureOut">
              <a:rPr lang="en-US" smtClean="0"/>
              <a:t>8/11/2025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C6AB34-39AD-49A0-95B7-D296DDADF55D}" type="slidenum">
              <a:rPr lang="en-US" smtClean="0"/>
              <a:t>‹#›</a:t>
            </a:fld>
            <a:endParaRPr lang="en-US"/>
          </a:p>
        </p:txBody>
      </p:sp>
    </p:spTree>
    <p:extLst>
      <p:ext uri="{BB962C8B-B14F-4D97-AF65-F5344CB8AC3E}">
        <p14:creationId xmlns:p14="http://schemas.microsoft.com/office/powerpoint/2010/main" val="3083028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8/10/2025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675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8/10/2025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9554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8/10/2025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1366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8/10/2025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287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8/10/2025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5004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8/10/2025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9049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8/10/2025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11181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8/10/2025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477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8/10/2025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8554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8/10/2025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958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8/10/2025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593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8/10/2025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23052328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587E41-605C-A8E4-8BA5-0E0B3797C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A web of dots connected">
            <a:extLst>
              <a:ext uri="{FF2B5EF4-FFF2-40B4-BE49-F238E27FC236}">
                <a16:creationId xmlns:a16="http://schemas.microsoft.com/office/drawing/2014/main" id="{B5DE73C3-1301-1CAF-B3CD-D37428C0C3D7}"/>
              </a:ext>
            </a:extLst>
          </p:cNvPr>
          <p:cNvPicPr>
            <a:picLocks noChangeAspect="1"/>
          </p:cNvPicPr>
          <p:nvPr/>
        </p:nvPicPr>
        <p:blipFill>
          <a:blip r:embed="rId2"/>
          <a:srcRect l="20444" r="1" b="1"/>
          <a:stretch>
            <a:fillRect/>
          </a:stretch>
        </p:blipFill>
        <p:spPr>
          <a:xfrm>
            <a:off x="-1" y="10"/>
            <a:ext cx="12191980" cy="6857990"/>
          </a:xfrm>
          <a:prstGeom prst="rect">
            <a:avLst/>
          </a:prstGeom>
        </p:spPr>
      </p:pic>
      <p:sp>
        <p:nvSpPr>
          <p:cNvPr id="11" name="Rectangle 10">
            <a:extLst>
              <a:ext uri="{FF2B5EF4-FFF2-40B4-BE49-F238E27FC236}">
                <a16:creationId xmlns:a16="http://schemas.microsoft.com/office/drawing/2014/main" id="{EBD48A03-0DF9-3063-CB15-1BC2AEC79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14416"/>
            <a:ext cx="12191999" cy="1243584"/>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D4E396D-16B1-8A59-2DFD-BF3471D62A63}"/>
              </a:ext>
            </a:extLst>
          </p:cNvPr>
          <p:cNvSpPr>
            <a:spLocks noGrp="1"/>
          </p:cNvSpPr>
          <p:nvPr>
            <p:ph type="ctrTitle"/>
          </p:nvPr>
        </p:nvSpPr>
        <p:spPr>
          <a:xfrm>
            <a:off x="317500" y="1074326"/>
            <a:ext cx="10096500" cy="960120"/>
          </a:xfrm>
        </p:spPr>
        <p:txBody>
          <a:bodyPr anchor="ctr">
            <a:normAutofit fontScale="90000"/>
          </a:bodyPr>
          <a:lstStyle/>
          <a:p>
            <a:pPr algn="l"/>
            <a:r>
              <a:rPr lang="en-US" dirty="0">
                <a:solidFill>
                  <a:schemeClr val="bg1"/>
                </a:solidFill>
              </a:rPr>
              <a:t>3D Brain Tumor Segmentation with UNet3D </a:t>
            </a:r>
          </a:p>
        </p:txBody>
      </p:sp>
      <p:sp>
        <p:nvSpPr>
          <p:cNvPr id="3" name="Subtitle 2">
            <a:extLst>
              <a:ext uri="{FF2B5EF4-FFF2-40B4-BE49-F238E27FC236}">
                <a16:creationId xmlns:a16="http://schemas.microsoft.com/office/drawing/2014/main" id="{60D0FEBB-95A0-6A60-195C-9EB4930F0CEE}"/>
              </a:ext>
            </a:extLst>
          </p:cNvPr>
          <p:cNvSpPr>
            <a:spLocks noGrp="1"/>
          </p:cNvSpPr>
          <p:nvPr>
            <p:ph type="subTitle" idx="1"/>
          </p:nvPr>
        </p:nvSpPr>
        <p:spPr>
          <a:xfrm>
            <a:off x="0" y="1691828"/>
            <a:ext cx="2819400" cy="2230761"/>
          </a:xfrm>
        </p:spPr>
        <p:txBody>
          <a:bodyPr anchor="ctr">
            <a:normAutofit/>
          </a:bodyPr>
          <a:lstStyle/>
          <a:p>
            <a:pPr algn="r"/>
            <a:r>
              <a:rPr lang="en-US" sz="1900" dirty="0">
                <a:solidFill>
                  <a:schemeClr val="bg1"/>
                </a:solidFill>
              </a:rPr>
              <a:t>MICCAI 2020 BraTS</a:t>
            </a:r>
          </a:p>
          <a:p>
            <a:pPr algn="r"/>
            <a:r>
              <a:rPr lang="en-US" sz="1900" dirty="0">
                <a:solidFill>
                  <a:schemeClr val="bg1"/>
                </a:solidFill>
              </a:rPr>
              <a:t>Abhishek Maan</a:t>
            </a:r>
          </a:p>
          <a:p>
            <a:pPr algn="r"/>
            <a:r>
              <a:rPr lang="en-US" sz="1900" dirty="0">
                <a:solidFill>
                  <a:schemeClr val="bg1"/>
                </a:solidFill>
              </a:rPr>
              <a:t>08/01/2025 </a:t>
            </a:r>
          </a:p>
        </p:txBody>
      </p:sp>
      <p:pic>
        <p:nvPicPr>
          <p:cNvPr id="6" name="Picture 5">
            <a:extLst>
              <a:ext uri="{FF2B5EF4-FFF2-40B4-BE49-F238E27FC236}">
                <a16:creationId xmlns:a16="http://schemas.microsoft.com/office/drawing/2014/main" id="{6AF3CD1A-4CB3-DBB3-71D0-0EF45FC3578C}"/>
              </a:ext>
            </a:extLst>
          </p:cNvPr>
          <p:cNvPicPr>
            <a:picLocks noChangeAspect="1"/>
          </p:cNvPicPr>
          <p:nvPr/>
        </p:nvPicPr>
        <p:blipFill>
          <a:blip r:embed="rId3">
            <a:extLst>
              <a:ext uri="{28A0092B-C50C-407E-A947-70E740481C1C}">
                <a14:useLocalDpi xmlns:a14="http://schemas.microsoft.com/office/drawing/2010/main" val="0"/>
              </a:ext>
            </a:extLst>
          </a:blip>
          <a:srcRect l="1972" t="4541" b="-1"/>
          <a:stretch>
            <a:fillRect/>
          </a:stretch>
        </p:blipFill>
        <p:spPr>
          <a:xfrm>
            <a:off x="4775200" y="2400299"/>
            <a:ext cx="5462789" cy="2670331"/>
          </a:xfrm>
          <a:prstGeom prst="rect">
            <a:avLst/>
          </a:prstGeom>
        </p:spPr>
      </p:pic>
    </p:spTree>
    <p:extLst>
      <p:ext uri="{BB962C8B-B14F-4D97-AF65-F5344CB8AC3E}">
        <p14:creationId xmlns:p14="http://schemas.microsoft.com/office/powerpoint/2010/main" val="11779232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B367-3400-A7EA-134D-4F7BF4AF6E8B}"/>
              </a:ext>
            </a:extLst>
          </p:cNvPr>
          <p:cNvSpPr>
            <a:spLocks noGrp="1"/>
          </p:cNvSpPr>
          <p:nvPr>
            <p:ph type="title"/>
          </p:nvPr>
        </p:nvSpPr>
        <p:spPr/>
        <p:txBody>
          <a:bodyPr/>
          <a:lstStyle/>
          <a:p>
            <a:r>
              <a:rPr lang="en-US" dirty="0"/>
              <a:t>What is Brain Image or MRI Segmentation?</a:t>
            </a:r>
          </a:p>
        </p:txBody>
      </p:sp>
      <p:sp>
        <p:nvSpPr>
          <p:cNvPr id="3" name="Content Placeholder 2">
            <a:extLst>
              <a:ext uri="{FF2B5EF4-FFF2-40B4-BE49-F238E27FC236}">
                <a16:creationId xmlns:a16="http://schemas.microsoft.com/office/drawing/2014/main" id="{EC317EE1-044F-BEB4-86D0-B16538DEA237}"/>
              </a:ext>
            </a:extLst>
          </p:cNvPr>
          <p:cNvSpPr>
            <a:spLocks noGrp="1"/>
          </p:cNvSpPr>
          <p:nvPr>
            <p:ph idx="1"/>
          </p:nvPr>
        </p:nvSpPr>
        <p:spPr/>
        <p:txBody>
          <a:bodyPr/>
          <a:lstStyle/>
          <a:p>
            <a:r>
              <a:rPr lang="en-US" dirty="0"/>
              <a:t>Brain image segmentation is the process of dividing a brain scan (like an MRI or CT image) into different regions or classes, usually to identify specific structures (like gray matter, white matter, cerebrospinal fluid, tumors, lesions, etc.).  </a:t>
            </a:r>
          </a:p>
          <a:p>
            <a:r>
              <a:rPr lang="en-US" dirty="0"/>
              <a:t>MRI uses strong magnetic fields and radio waves to generate images – no ionizing radiation like X-rays or CT scans. </a:t>
            </a:r>
          </a:p>
          <a:p>
            <a:pPr lvl="1"/>
            <a:r>
              <a:rPr lang="en-US" dirty="0"/>
              <a:t>Multiple contrast types or sequences (T1, T2, FLAIR, DWI, etc.) </a:t>
            </a:r>
            <a:r>
              <a:rPr lang="en-US" dirty="0">
                <a:sym typeface="Wingdings" panose="05000000000000000000" pitchFamily="2" charset="2"/>
              </a:rPr>
              <a:t> each highlights different tissue properties. </a:t>
            </a:r>
          </a:p>
          <a:p>
            <a:r>
              <a:rPr lang="en-US" dirty="0">
                <a:sym typeface="Wingdings" panose="05000000000000000000" pitchFamily="2" charset="2"/>
              </a:rPr>
              <a:t>In essence, MRIs are a type of scan used to collect unique contrast images of organ tissues and segmentation is the process of labeling normal and abnormal objects.  </a:t>
            </a:r>
            <a:endParaRPr lang="en-US" dirty="0"/>
          </a:p>
        </p:txBody>
      </p:sp>
    </p:spTree>
    <p:extLst>
      <p:ext uri="{BB962C8B-B14F-4D97-AF65-F5344CB8AC3E}">
        <p14:creationId xmlns:p14="http://schemas.microsoft.com/office/powerpoint/2010/main" val="600684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FCF70-6FC0-C213-3108-1C8A4578DA7F}"/>
              </a:ext>
            </a:extLst>
          </p:cNvPr>
          <p:cNvSpPr>
            <a:spLocks noGrp="1"/>
          </p:cNvSpPr>
          <p:nvPr>
            <p:ph type="title"/>
          </p:nvPr>
        </p:nvSpPr>
        <p:spPr/>
        <p:txBody>
          <a:bodyPr/>
          <a:lstStyle/>
          <a:p>
            <a:r>
              <a:rPr lang="en-US" dirty="0"/>
              <a:t>MRI Context and Information</a:t>
            </a:r>
          </a:p>
        </p:txBody>
      </p:sp>
      <p:sp>
        <p:nvSpPr>
          <p:cNvPr id="3" name="Content Placeholder 2">
            <a:extLst>
              <a:ext uri="{FF2B5EF4-FFF2-40B4-BE49-F238E27FC236}">
                <a16:creationId xmlns:a16="http://schemas.microsoft.com/office/drawing/2014/main" id="{87A3F46C-E970-F652-6FB8-319E2FC8BF4F}"/>
              </a:ext>
            </a:extLst>
          </p:cNvPr>
          <p:cNvSpPr>
            <a:spLocks noGrp="1"/>
          </p:cNvSpPr>
          <p:nvPr>
            <p:ph idx="1"/>
          </p:nvPr>
        </p:nvSpPr>
        <p:spPr/>
        <p:txBody>
          <a:bodyPr>
            <a:normAutofit fontScale="92500"/>
          </a:bodyPr>
          <a:lstStyle/>
          <a:p>
            <a:r>
              <a:rPr lang="en-US" dirty="0"/>
              <a:t>Non-invasive medical imaging technique used to create detailed images of organs, tissues, and structures inside the body—especially soft tissues like the brain. </a:t>
            </a:r>
          </a:p>
          <a:p>
            <a:r>
              <a:rPr lang="en-US" dirty="0"/>
              <a:t>The magnet aligns hydrogen protons in your body. (Mostly in water and fat). </a:t>
            </a:r>
          </a:p>
          <a:p>
            <a:r>
              <a:rPr lang="en-US" b="1" dirty="0"/>
              <a:t>Why its important</a:t>
            </a:r>
          </a:p>
          <a:p>
            <a:pPr lvl="1"/>
            <a:r>
              <a:rPr lang="en-US" dirty="0"/>
              <a:t>High soft-tissue contrast </a:t>
            </a:r>
            <a:r>
              <a:rPr lang="en-US" dirty="0">
                <a:sym typeface="Wingdings" panose="05000000000000000000" pitchFamily="2" charset="2"/>
              </a:rPr>
              <a:t> perfect for seeing brain structures, tumors, lesions, etc. </a:t>
            </a:r>
          </a:p>
          <a:p>
            <a:pPr lvl="1"/>
            <a:r>
              <a:rPr lang="en-US" dirty="0">
                <a:sym typeface="Wingdings" panose="05000000000000000000" pitchFamily="2" charset="2"/>
              </a:rPr>
              <a:t>Multiple contrast types (</a:t>
            </a:r>
            <a:r>
              <a:rPr lang="en-US" b="1" dirty="0">
                <a:sym typeface="Wingdings" panose="05000000000000000000" pitchFamily="2" charset="2"/>
              </a:rPr>
              <a:t>T1, T1CE, T2, FLAIR,</a:t>
            </a:r>
            <a:r>
              <a:rPr lang="en-US" dirty="0">
                <a:sym typeface="Wingdings" panose="05000000000000000000" pitchFamily="2" charset="2"/>
              </a:rPr>
              <a:t> etc.)  each highlights different tissue properties. </a:t>
            </a:r>
          </a:p>
          <a:p>
            <a:r>
              <a:rPr lang="en-US" b="1" dirty="0"/>
              <a:t>Types of MRI sequences:</a:t>
            </a:r>
          </a:p>
          <a:p>
            <a:pPr lvl="1"/>
            <a:r>
              <a:rPr lang="en-US" b="1" dirty="0"/>
              <a:t>T1-weighted</a:t>
            </a:r>
            <a:r>
              <a:rPr lang="en-US" dirty="0"/>
              <a:t>: Great for anatomy (white matter is bright, Cerebrospinal fluid is dark). </a:t>
            </a:r>
          </a:p>
          <a:p>
            <a:pPr lvl="1"/>
            <a:r>
              <a:rPr lang="en-US" b="1" dirty="0"/>
              <a:t>T1ce</a:t>
            </a:r>
            <a:r>
              <a:rPr lang="en-US" dirty="0"/>
              <a:t>: T1-weighted MRI sequence taken after gadolinium-based contrast agent injected.</a:t>
            </a:r>
          </a:p>
          <a:p>
            <a:pPr lvl="1"/>
            <a:r>
              <a:rPr lang="en-US" b="1" dirty="0"/>
              <a:t>T2-weighted</a:t>
            </a:r>
            <a:r>
              <a:rPr lang="en-US" dirty="0"/>
              <a:t>: Good for detecting fluid and inflammation (CSF is bright). </a:t>
            </a:r>
          </a:p>
          <a:p>
            <a:pPr lvl="1"/>
            <a:r>
              <a:rPr lang="en-US" b="1" dirty="0"/>
              <a:t>FLAIR</a:t>
            </a:r>
            <a:r>
              <a:rPr lang="en-US" dirty="0"/>
              <a:t>: Suppresses CSF </a:t>
            </a:r>
            <a:r>
              <a:rPr lang="en-US" dirty="0">
                <a:sym typeface="Wingdings" panose="05000000000000000000" pitchFamily="2" charset="2"/>
              </a:rPr>
              <a:t> makes lesions (e.g., MS plaques) more visible. </a:t>
            </a:r>
          </a:p>
          <a:p>
            <a:pPr lvl="1"/>
            <a:endParaRPr lang="en-US" dirty="0"/>
          </a:p>
        </p:txBody>
      </p:sp>
    </p:spTree>
    <p:extLst>
      <p:ext uri="{BB962C8B-B14F-4D97-AF65-F5344CB8AC3E}">
        <p14:creationId xmlns:p14="http://schemas.microsoft.com/office/powerpoint/2010/main" val="4225193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A979-062D-01EA-867C-5CC1F081E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799E8-03BC-FD07-7CC9-5DDA365EC74C}"/>
              </a:ext>
            </a:extLst>
          </p:cNvPr>
          <p:cNvSpPr>
            <a:spLocks noGrp="1"/>
          </p:cNvSpPr>
          <p:nvPr>
            <p:ph type="title"/>
          </p:nvPr>
        </p:nvSpPr>
        <p:spPr/>
        <p:txBody>
          <a:bodyPr/>
          <a:lstStyle/>
          <a:p>
            <a:r>
              <a:rPr lang="en-US" dirty="0"/>
              <a:t>What’s the Problem?</a:t>
            </a:r>
          </a:p>
        </p:txBody>
      </p:sp>
      <p:sp>
        <p:nvSpPr>
          <p:cNvPr id="3" name="Content Placeholder 2">
            <a:extLst>
              <a:ext uri="{FF2B5EF4-FFF2-40B4-BE49-F238E27FC236}">
                <a16:creationId xmlns:a16="http://schemas.microsoft.com/office/drawing/2014/main" id="{CD32940D-DE39-021A-6885-F4995CB16241}"/>
              </a:ext>
            </a:extLst>
          </p:cNvPr>
          <p:cNvSpPr>
            <a:spLocks noGrp="1"/>
          </p:cNvSpPr>
          <p:nvPr>
            <p:ph idx="1"/>
          </p:nvPr>
        </p:nvSpPr>
        <p:spPr>
          <a:xfrm>
            <a:off x="612648" y="1132086"/>
            <a:ext cx="10653579" cy="5471914"/>
          </a:xfrm>
        </p:spPr>
        <p:txBody>
          <a:bodyPr>
            <a:normAutofit lnSpcReduction="10000"/>
          </a:bodyPr>
          <a:lstStyle/>
          <a:p>
            <a:r>
              <a:rPr lang="en-US" b="1" dirty="0"/>
              <a:t>Manual segmentation: </a:t>
            </a:r>
          </a:p>
          <a:p>
            <a:pPr lvl="1"/>
            <a:r>
              <a:rPr lang="en-US" dirty="0"/>
              <a:t>Gold Standard and Ground Truth. Manual segmentation from a trained professional is considered the most accurate and reliable reference for training and evaluating automated and semi-automated segmentation methods. </a:t>
            </a:r>
          </a:p>
          <a:p>
            <a:r>
              <a:rPr lang="en-US" b="1" dirty="0"/>
              <a:t>Challenge: </a:t>
            </a:r>
          </a:p>
          <a:p>
            <a:pPr lvl="1"/>
            <a:r>
              <a:rPr lang="en-US" dirty="0"/>
              <a:t>Manual segmentation is subjective and prone to variability both between different radiologists and even within the same radiologist repeating the task.</a:t>
            </a:r>
          </a:p>
          <a:p>
            <a:pPr lvl="1"/>
            <a:r>
              <a:rPr lang="en-US" dirty="0"/>
              <a:t>Segmenting a single 3D MRI scan can take hours. Radiologist has to trace tumor sub-region.</a:t>
            </a:r>
          </a:p>
          <a:p>
            <a:pPr lvl="1"/>
            <a:r>
              <a:rPr lang="en-US" dirty="0"/>
              <a:t>High cognitive load: </a:t>
            </a:r>
          </a:p>
          <a:p>
            <a:pPr lvl="2"/>
            <a:r>
              <a:rPr lang="en-US" dirty="0"/>
              <a:t>Requires deep anatomical and pathological knowledge. </a:t>
            </a:r>
          </a:p>
          <a:p>
            <a:pPr lvl="2"/>
            <a:r>
              <a:rPr lang="en-US" dirty="0"/>
              <a:t>Fatigue distraction or inexperience risks of errors. </a:t>
            </a:r>
          </a:p>
          <a:p>
            <a:pPr lvl="2"/>
            <a:r>
              <a:rPr lang="en-US" dirty="0"/>
              <a:t>In fast-paced hospitals, radiologists can be too tight on time to focus at that level of detail for long stretches.  </a:t>
            </a:r>
          </a:p>
          <a:p>
            <a:pPr lvl="1"/>
            <a:r>
              <a:rPr lang="en-US" dirty="0"/>
              <a:t>Limited Access Globally</a:t>
            </a:r>
          </a:p>
          <a:p>
            <a:pPr lvl="2"/>
            <a:r>
              <a:rPr lang="en-US" dirty="0"/>
              <a:t>Not all hospitals or clinics have trained neuro-radiologists. </a:t>
            </a:r>
          </a:p>
        </p:txBody>
      </p:sp>
    </p:spTree>
    <p:extLst>
      <p:ext uri="{BB962C8B-B14F-4D97-AF65-F5344CB8AC3E}">
        <p14:creationId xmlns:p14="http://schemas.microsoft.com/office/powerpoint/2010/main" val="2682725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506C0-EC39-DA71-665A-816BC9C05AE6}"/>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CD718577-E18D-A315-F8E3-013119536D42}"/>
              </a:ext>
            </a:extLst>
          </p:cNvPr>
          <p:cNvSpPr>
            <a:spLocks noGrp="1"/>
          </p:cNvSpPr>
          <p:nvPr>
            <p:ph idx="1"/>
          </p:nvPr>
        </p:nvSpPr>
        <p:spPr/>
        <p:txBody>
          <a:bodyPr>
            <a:normAutofit lnSpcReduction="10000"/>
          </a:bodyPr>
          <a:lstStyle/>
          <a:p>
            <a:r>
              <a:rPr lang="en-US" dirty="0"/>
              <a:t>Goal: </a:t>
            </a:r>
          </a:p>
          <a:p>
            <a:pPr lvl="1"/>
            <a:r>
              <a:rPr lang="en-US" dirty="0"/>
              <a:t>Train a 3D convoluted neural network to accurately predict background, fluid, enhancing tumors, and core tumor regions in MRI scans. </a:t>
            </a:r>
          </a:p>
          <a:p>
            <a:pPr lvl="1"/>
            <a:r>
              <a:rPr lang="en-US" dirty="0"/>
              <a:t>Augment Radiologists through an automated pre-segmentation and quick verification workflow. (Applied Goal) </a:t>
            </a:r>
          </a:p>
          <a:p>
            <a:r>
              <a:rPr lang="en-US" dirty="0"/>
              <a:t>How: </a:t>
            </a:r>
          </a:p>
          <a:p>
            <a:pPr lvl="1"/>
            <a:r>
              <a:rPr lang="en-US" dirty="0"/>
              <a:t>Using the BraTS 2020 Data set of brain volumes to train the model and test for predictions. </a:t>
            </a:r>
          </a:p>
          <a:p>
            <a:pPr lvl="1"/>
            <a:r>
              <a:rPr lang="en-US" dirty="0"/>
              <a:t>The BraTS 2020 dataset gives multi-modal MRI scans (T1, T1ce, T2, FLAIR) and tumor masks for high-grade glioma patients. The images are preprocessed, 3D, and expertly labeled, making it a gold standard for developing and benchmarking brain tumor segmentation models. </a:t>
            </a:r>
          </a:p>
          <a:p>
            <a:r>
              <a:rPr lang="en-US" dirty="0"/>
              <a:t>Evaluation: </a:t>
            </a:r>
          </a:p>
          <a:p>
            <a:pPr lvl="1"/>
            <a:r>
              <a:rPr lang="en-US" dirty="0"/>
              <a:t>Labels will be grouped into three regions ( Necrotic Core, Edema, and Enhancing Tumor.)</a:t>
            </a:r>
          </a:p>
        </p:txBody>
      </p:sp>
    </p:spTree>
    <p:extLst>
      <p:ext uri="{BB962C8B-B14F-4D97-AF65-F5344CB8AC3E}">
        <p14:creationId xmlns:p14="http://schemas.microsoft.com/office/powerpoint/2010/main" val="297176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2C735-4C4F-9A96-5A23-608174403B7B}"/>
              </a:ext>
            </a:extLst>
          </p:cNvPr>
          <p:cNvSpPr>
            <a:spLocks noGrp="1"/>
          </p:cNvSpPr>
          <p:nvPr>
            <p:ph type="title"/>
          </p:nvPr>
        </p:nvSpPr>
        <p:spPr/>
        <p:txBody>
          <a:bodyPr/>
          <a:lstStyle/>
          <a:p>
            <a:r>
              <a:rPr lang="en-US" dirty="0"/>
              <a:t>Real World Application</a:t>
            </a:r>
          </a:p>
        </p:txBody>
      </p:sp>
      <p:sp>
        <p:nvSpPr>
          <p:cNvPr id="3" name="Content Placeholder 2">
            <a:extLst>
              <a:ext uri="{FF2B5EF4-FFF2-40B4-BE49-F238E27FC236}">
                <a16:creationId xmlns:a16="http://schemas.microsoft.com/office/drawing/2014/main" id="{7DF34C2C-5CC1-C2D3-E714-7CF6C1086967}"/>
              </a:ext>
            </a:extLst>
          </p:cNvPr>
          <p:cNvSpPr>
            <a:spLocks noGrp="1"/>
          </p:cNvSpPr>
          <p:nvPr>
            <p:ph idx="1"/>
          </p:nvPr>
        </p:nvSpPr>
        <p:spPr/>
        <p:txBody>
          <a:bodyPr/>
          <a:lstStyle/>
          <a:p>
            <a:r>
              <a:rPr lang="en-US" b="1" dirty="0"/>
              <a:t>Radiology Assistance</a:t>
            </a:r>
          </a:p>
          <a:p>
            <a:pPr lvl="1"/>
            <a:r>
              <a:rPr lang="en-US" dirty="0"/>
              <a:t>Tumor Segmentation and Detection: 3D U-Nets can precisely identify and delineate tumors in 3D medical images like CT and MRI scans. This can help radiologists quantify tumor burden, monitor treatment response, and differentiate between malignant and benign tissues. </a:t>
            </a:r>
          </a:p>
          <a:p>
            <a:pPr lvl="1"/>
            <a:r>
              <a:rPr lang="en-US" dirty="0"/>
              <a:t>Workflow Efficiency: Automated segmentation by 3D U-Nets can significantly reduce the time radiologists spend on manual delineation, allowing them to focus on other critical aspects of image interpretation. </a:t>
            </a:r>
          </a:p>
          <a:p>
            <a:r>
              <a:rPr lang="en-US" b="1" dirty="0"/>
              <a:t>Pre-surgical planning</a:t>
            </a:r>
          </a:p>
          <a:p>
            <a:pPr lvl="1"/>
            <a:r>
              <a:rPr lang="en-US" dirty="0"/>
              <a:t>3D Anatomical Models: 3D U-Nets can provide the infrastructure to facilitate the creation of detailed 3D anatomical models from patient imaging data. </a:t>
            </a:r>
          </a:p>
        </p:txBody>
      </p:sp>
    </p:spTree>
    <p:extLst>
      <p:ext uri="{BB962C8B-B14F-4D97-AF65-F5344CB8AC3E}">
        <p14:creationId xmlns:p14="http://schemas.microsoft.com/office/powerpoint/2010/main" val="2505271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2DAF-82EC-96B8-7B25-FF441465656D}"/>
              </a:ext>
            </a:extLst>
          </p:cNvPr>
          <p:cNvSpPr>
            <a:spLocks noGrp="1"/>
          </p:cNvSpPr>
          <p:nvPr>
            <p:ph type="title"/>
          </p:nvPr>
        </p:nvSpPr>
        <p:spPr/>
        <p:txBody>
          <a:bodyPr/>
          <a:lstStyle/>
          <a:p>
            <a:r>
              <a:rPr lang="en-US" dirty="0"/>
              <a:t>Dataset and Preprocessing</a:t>
            </a:r>
          </a:p>
        </p:txBody>
      </p:sp>
      <p:sp>
        <p:nvSpPr>
          <p:cNvPr id="3" name="Content Placeholder 2">
            <a:extLst>
              <a:ext uri="{FF2B5EF4-FFF2-40B4-BE49-F238E27FC236}">
                <a16:creationId xmlns:a16="http://schemas.microsoft.com/office/drawing/2014/main" id="{0699D080-BAB4-E369-C567-03A70CC93905}"/>
              </a:ext>
            </a:extLst>
          </p:cNvPr>
          <p:cNvSpPr>
            <a:spLocks noGrp="1"/>
          </p:cNvSpPr>
          <p:nvPr>
            <p:ph idx="1"/>
          </p:nvPr>
        </p:nvSpPr>
        <p:spPr/>
        <p:txBody>
          <a:bodyPr>
            <a:normAutofit/>
          </a:bodyPr>
          <a:lstStyle/>
          <a:p>
            <a:r>
              <a:rPr lang="en-US" b="1" dirty="0"/>
              <a:t>Size, resolution, modality: </a:t>
            </a:r>
          </a:p>
          <a:p>
            <a:pPr lvl="1"/>
            <a:r>
              <a:rPr lang="en-US" b="1" dirty="0"/>
              <a:t>Dataset</a:t>
            </a:r>
            <a:r>
              <a:rPr lang="en-US" dirty="0"/>
              <a:t>: BraTS 2020 Training Data (MICCAI_BraTS2020_TrainingData)</a:t>
            </a:r>
          </a:p>
          <a:p>
            <a:pPr lvl="1"/>
            <a:r>
              <a:rPr lang="en-US" b="1" dirty="0"/>
              <a:t>Volume Dimensions</a:t>
            </a:r>
            <a:r>
              <a:rPr lang="en-US" dirty="0"/>
              <a:t>: 240×240×155 voxels per modality</a:t>
            </a:r>
          </a:p>
          <a:p>
            <a:pPr lvl="1"/>
            <a:r>
              <a:rPr lang="en-US" b="1" dirty="0"/>
              <a:t>Modalities</a:t>
            </a:r>
            <a:r>
              <a:rPr lang="en-US" dirty="0"/>
              <a:t>: 4 MRI sequences (FLAIR, T1, T1CE, T2)</a:t>
            </a:r>
          </a:p>
          <a:p>
            <a:pPr lvl="1"/>
            <a:r>
              <a:rPr lang="en-US" b="1" dirty="0"/>
              <a:t>Sample Size</a:t>
            </a:r>
            <a:r>
              <a:rPr lang="en-US" dirty="0"/>
              <a:t>: 100 patients (configurable via sample_size parameter)</a:t>
            </a:r>
          </a:p>
          <a:p>
            <a:pPr lvl="2"/>
            <a:r>
              <a:rPr lang="en-US" dirty="0"/>
              <a:t>Each patient (volume) contains 5 .</a:t>
            </a:r>
            <a:r>
              <a:rPr lang="en-US" dirty="0" err="1"/>
              <a:t>nii</a:t>
            </a:r>
            <a:r>
              <a:rPr lang="en-US" dirty="0"/>
              <a:t> files. Each modality and the segmentation. </a:t>
            </a:r>
          </a:p>
          <a:p>
            <a:pPr lvl="3"/>
            <a:r>
              <a:rPr lang="en-US" b="1" dirty="0"/>
              <a:t>Size</a:t>
            </a:r>
            <a:r>
              <a:rPr lang="en-US" dirty="0"/>
              <a:t>: ~20 MB per file (compressed)</a:t>
            </a:r>
          </a:p>
          <a:p>
            <a:pPr lvl="3"/>
            <a:r>
              <a:rPr lang="en-US" b="1" dirty="0"/>
              <a:t>Memory</a:t>
            </a:r>
            <a:r>
              <a:rPr lang="en-US" dirty="0"/>
              <a:t>: ~14 MB per volume in RAM</a:t>
            </a:r>
          </a:p>
          <a:p>
            <a:r>
              <a:rPr lang="en-US" b="1" dirty="0"/>
              <a:t>Preprocessing:</a:t>
            </a:r>
          </a:p>
          <a:p>
            <a:pPr lvl="1"/>
            <a:r>
              <a:rPr lang="en-US" b="1" dirty="0"/>
              <a:t>Normalization</a:t>
            </a:r>
            <a:r>
              <a:rPr lang="en-US" dirty="0"/>
              <a:t>: Per-volume Z-score normalization using non-zero voxels</a:t>
            </a:r>
          </a:p>
          <a:p>
            <a:pPr lvl="1"/>
            <a:r>
              <a:rPr lang="en-US" b="1" dirty="0"/>
              <a:t>Slicing</a:t>
            </a:r>
            <a:r>
              <a:rPr lang="en-US" dirty="0"/>
              <a:t>: Maintains 3D volumes, no 2D slicing</a:t>
            </a:r>
          </a:p>
          <a:p>
            <a:endParaRPr lang="en-US" dirty="0"/>
          </a:p>
          <a:p>
            <a:endParaRPr lang="en-US" dirty="0"/>
          </a:p>
        </p:txBody>
      </p:sp>
    </p:spTree>
    <p:extLst>
      <p:ext uri="{BB962C8B-B14F-4D97-AF65-F5344CB8AC3E}">
        <p14:creationId xmlns:p14="http://schemas.microsoft.com/office/powerpoint/2010/main" val="324656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F0F3-2895-8179-AD2E-6902813D8621}"/>
              </a:ext>
            </a:extLst>
          </p:cNvPr>
          <p:cNvSpPr>
            <a:spLocks noGrp="1"/>
          </p:cNvSpPr>
          <p:nvPr>
            <p:ph type="title"/>
          </p:nvPr>
        </p:nvSpPr>
        <p:spPr/>
        <p:txBody>
          <a:bodyPr/>
          <a:lstStyle/>
          <a:p>
            <a:r>
              <a:rPr lang="en-US" dirty="0"/>
              <a:t>Model Architecture</a:t>
            </a:r>
          </a:p>
        </p:txBody>
      </p:sp>
      <p:sp>
        <p:nvSpPr>
          <p:cNvPr id="3" name="Content Placeholder 2">
            <a:extLst>
              <a:ext uri="{FF2B5EF4-FFF2-40B4-BE49-F238E27FC236}">
                <a16:creationId xmlns:a16="http://schemas.microsoft.com/office/drawing/2014/main" id="{11D4325A-6ED0-5741-34EC-F3487A9A7FD7}"/>
              </a:ext>
            </a:extLst>
          </p:cNvPr>
          <p:cNvSpPr>
            <a:spLocks noGrp="1"/>
          </p:cNvSpPr>
          <p:nvPr>
            <p:ph idx="1"/>
          </p:nvPr>
        </p:nvSpPr>
        <p:spPr/>
        <p:txBody>
          <a:bodyPr/>
          <a:lstStyle/>
          <a:p>
            <a:r>
              <a:rPr lang="en-US" dirty="0"/>
              <a:t>Input (4×240×240×155)   </a:t>
            </a:r>
          </a:p>
          <a:p>
            <a:r>
              <a:rPr lang="en-US" dirty="0"/>
              <a:t>↓Encoder 1: 32 channels → </a:t>
            </a:r>
            <a:r>
              <a:rPr lang="en-US" dirty="0" err="1"/>
              <a:t>MaxPool</a:t>
            </a:r>
            <a:r>
              <a:rPr lang="en-US" dirty="0"/>
              <a:t> (2,2,1)    </a:t>
            </a:r>
          </a:p>
          <a:p>
            <a:r>
              <a:rPr lang="en-US" dirty="0"/>
              <a:t>↓Encoder 2: 64 channels → </a:t>
            </a:r>
            <a:r>
              <a:rPr lang="en-US" dirty="0" err="1"/>
              <a:t>MaxPool</a:t>
            </a:r>
            <a:r>
              <a:rPr lang="en-US" dirty="0"/>
              <a:t> (2,2,1)    </a:t>
            </a:r>
          </a:p>
          <a:p>
            <a:r>
              <a:rPr lang="en-US" dirty="0"/>
              <a:t>↓Encoder 3: 128 channels → </a:t>
            </a:r>
            <a:r>
              <a:rPr lang="en-US" dirty="0" err="1"/>
              <a:t>MaxPool</a:t>
            </a:r>
            <a:r>
              <a:rPr lang="en-US" dirty="0"/>
              <a:t> (2,2,1)    </a:t>
            </a:r>
          </a:p>
          <a:p>
            <a:r>
              <a:rPr lang="en-US" dirty="0"/>
              <a:t>↓Bottleneck: 256 channels    </a:t>
            </a:r>
          </a:p>
          <a:p>
            <a:r>
              <a:rPr lang="en-US" dirty="0"/>
              <a:t>↓</a:t>
            </a:r>
            <a:r>
              <a:rPr lang="en-US" dirty="0" err="1"/>
              <a:t>Upsample</a:t>
            </a:r>
            <a:r>
              <a:rPr lang="en-US" dirty="0"/>
              <a:t> 3: 256→128 + skip connection    </a:t>
            </a:r>
          </a:p>
          <a:p>
            <a:r>
              <a:rPr lang="en-US" dirty="0"/>
              <a:t>↓</a:t>
            </a:r>
            <a:r>
              <a:rPr lang="en-US" dirty="0" err="1"/>
              <a:t>Upsample</a:t>
            </a:r>
            <a:r>
              <a:rPr lang="en-US" dirty="0"/>
              <a:t> 2: 128→64 + skip connection    </a:t>
            </a:r>
          </a:p>
          <a:p>
            <a:r>
              <a:rPr lang="en-US" dirty="0"/>
              <a:t>↓</a:t>
            </a:r>
            <a:r>
              <a:rPr lang="en-US" dirty="0" err="1"/>
              <a:t>Upsample</a:t>
            </a:r>
            <a:r>
              <a:rPr lang="en-US" dirty="0"/>
              <a:t> 1: 64→32 + skip connection    </a:t>
            </a:r>
          </a:p>
          <a:p>
            <a:r>
              <a:rPr lang="en-US" dirty="0"/>
              <a:t>↓Final Conv: 32→4 channels (1×1×1)</a:t>
            </a:r>
          </a:p>
        </p:txBody>
      </p:sp>
    </p:spTree>
    <p:extLst>
      <p:ext uri="{BB962C8B-B14F-4D97-AF65-F5344CB8AC3E}">
        <p14:creationId xmlns:p14="http://schemas.microsoft.com/office/powerpoint/2010/main" val="264815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09CB-BFD6-6FA2-A597-A123D79CB798}"/>
              </a:ext>
            </a:extLst>
          </p:cNvPr>
          <p:cNvSpPr>
            <a:spLocks noGrp="1"/>
          </p:cNvSpPr>
          <p:nvPr>
            <p:ph type="title"/>
          </p:nvPr>
        </p:nvSpPr>
        <p:spPr/>
        <p:txBody>
          <a:bodyPr/>
          <a:lstStyle/>
          <a:p>
            <a:r>
              <a:rPr lang="en-US" dirty="0"/>
              <a:t>Model Architecture</a:t>
            </a:r>
          </a:p>
        </p:txBody>
      </p:sp>
      <p:sp>
        <p:nvSpPr>
          <p:cNvPr id="3" name="Content Placeholder 2">
            <a:extLst>
              <a:ext uri="{FF2B5EF4-FFF2-40B4-BE49-F238E27FC236}">
                <a16:creationId xmlns:a16="http://schemas.microsoft.com/office/drawing/2014/main" id="{B046E38D-1568-C9CD-7A07-D6751E3AA38A}"/>
              </a:ext>
            </a:extLst>
          </p:cNvPr>
          <p:cNvSpPr>
            <a:spLocks noGrp="1"/>
          </p:cNvSpPr>
          <p:nvPr>
            <p:ph idx="1"/>
          </p:nvPr>
        </p:nvSpPr>
        <p:spPr/>
        <p:txBody>
          <a:bodyPr>
            <a:normAutofit/>
          </a:bodyPr>
          <a:lstStyle/>
          <a:p>
            <a:r>
              <a:rPr lang="en-US" b="1" dirty="0"/>
              <a:t>3D convolutions vs 2D:</a:t>
            </a:r>
          </a:p>
          <a:p>
            <a:pPr lvl="1"/>
            <a:r>
              <a:rPr lang="en-US" b="1" dirty="0"/>
              <a:t>3D Conv3d</a:t>
            </a:r>
            <a:r>
              <a:rPr lang="en-US" dirty="0"/>
              <a:t>: Processes spatial information in all 3 dimensions</a:t>
            </a:r>
          </a:p>
          <a:p>
            <a:pPr lvl="1"/>
            <a:r>
              <a:rPr lang="en-US" b="1" dirty="0"/>
              <a:t>Depth preservation</a:t>
            </a:r>
            <a:r>
              <a:rPr lang="en-US" dirty="0"/>
              <a:t>: Pooling only in x-y dimensions (2,2,1)</a:t>
            </a:r>
          </a:p>
          <a:p>
            <a:pPr lvl="1"/>
            <a:r>
              <a:rPr lang="en-US" b="1" dirty="0"/>
              <a:t>Memory efficient</a:t>
            </a:r>
            <a:r>
              <a:rPr lang="en-US" dirty="0"/>
              <a:t>: Gradient checkpointing during training</a:t>
            </a:r>
          </a:p>
          <a:p>
            <a:r>
              <a:rPr lang="en-US" b="1" dirty="0"/>
              <a:t>Loss functions used:</a:t>
            </a:r>
          </a:p>
          <a:p>
            <a:pPr lvl="1"/>
            <a:r>
              <a:rPr lang="en-US" b="1" dirty="0"/>
              <a:t>Primary</a:t>
            </a:r>
            <a:r>
              <a:rPr lang="en-US" dirty="0"/>
              <a:t>: </a:t>
            </a:r>
            <a:r>
              <a:rPr lang="en-US" dirty="0" err="1"/>
              <a:t>CrossEntropyLoss</a:t>
            </a:r>
            <a:r>
              <a:rPr lang="en-US" dirty="0"/>
              <a:t> </a:t>
            </a:r>
          </a:p>
          <a:p>
            <a:pPr lvl="1"/>
            <a:r>
              <a:rPr lang="en-US" b="1" dirty="0"/>
              <a:t>Dice Loss</a:t>
            </a:r>
            <a:r>
              <a:rPr lang="en-US" dirty="0"/>
              <a:t>: Implemented in </a:t>
            </a:r>
            <a:r>
              <a:rPr lang="en-US" dirty="0" err="1"/>
              <a:t>dice_score</a:t>
            </a:r>
            <a:r>
              <a:rPr lang="en-US" dirty="0"/>
              <a:t>() and </a:t>
            </a:r>
            <a:r>
              <a:rPr lang="en-US" dirty="0" err="1"/>
              <a:t>dice_per_class</a:t>
            </a:r>
            <a:r>
              <a:rPr lang="en-US" dirty="0"/>
              <a:t>() functions</a:t>
            </a:r>
          </a:p>
          <a:p>
            <a:r>
              <a:rPr lang="en-US" b="1" dirty="0"/>
              <a:t>Why UNet3D is ideal for volumetric data:</a:t>
            </a:r>
          </a:p>
          <a:p>
            <a:pPr lvl="1"/>
            <a:r>
              <a:rPr lang="en-US" b="1" dirty="0"/>
              <a:t>Skip connections</a:t>
            </a:r>
            <a:r>
              <a:rPr lang="en-US" dirty="0"/>
              <a:t>: Preserve spatial information across scales</a:t>
            </a:r>
          </a:p>
          <a:p>
            <a:pPr lvl="1"/>
            <a:r>
              <a:rPr lang="en-US" b="1" dirty="0"/>
              <a:t>Depth preservation</a:t>
            </a:r>
            <a:r>
              <a:rPr lang="en-US" dirty="0"/>
              <a:t>: Maintains 3D spatial relationships</a:t>
            </a:r>
          </a:p>
          <a:p>
            <a:pPr lvl="1"/>
            <a:r>
              <a:rPr lang="en-US" b="1" dirty="0"/>
              <a:t>Memory efficient</a:t>
            </a:r>
            <a:r>
              <a:rPr lang="en-US" dirty="0"/>
              <a:t>: Gradient checkpointing enables 3D training</a:t>
            </a:r>
          </a:p>
          <a:p>
            <a:endParaRPr lang="en-US" dirty="0"/>
          </a:p>
        </p:txBody>
      </p:sp>
    </p:spTree>
    <p:extLst>
      <p:ext uri="{BB962C8B-B14F-4D97-AF65-F5344CB8AC3E}">
        <p14:creationId xmlns:p14="http://schemas.microsoft.com/office/powerpoint/2010/main" val="648386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1EE4B-1237-8DCE-028F-B8EF5E6EA981}"/>
              </a:ext>
            </a:extLst>
          </p:cNvPr>
          <p:cNvSpPr>
            <a:spLocks noGrp="1"/>
          </p:cNvSpPr>
          <p:nvPr>
            <p:ph type="title"/>
          </p:nvPr>
        </p:nvSpPr>
        <p:spPr/>
        <p:txBody>
          <a:bodyPr/>
          <a:lstStyle/>
          <a:p>
            <a:r>
              <a:rPr lang="en-US" dirty="0"/>
              <a:t>Cross Entropy Loss Context</a:t>
            </a:r>
          </a:p>
        </p:txBody>
      </p:sp>
      <p:sp>
        <p:nvSpPr>
          <p:cNvPr id="3" name="Content Placeholder 2">
            <a:extLst>
              <a:ext uri="{FF2B5EF4-FFF2-40B4-BE49-F238E27FC236}">
                <a16:creationId xmlns:a16="http://schemas.microsoft.com/office/drawing/2014/main" id="{399990B0-E8A0-D286-FAD4-CA3B71EB7995}"/>
              </a:ext>
            </a:extLst>
          </p:cNvPr>
          <p:cNvSpPr>
            <a:spLocks noGrp="1"/>
          </p:cNvSpPr>
          <p:nvPr>
            <p:ph idx="1"/>
          </p:nvPr>
        </p:nvSpPr>
        <p:spPr/>
        <p:txBody>
          <a:bodyPr/>
          <a:lstStyle/>
          <a:p>
            <a:r>
              <a:rPr lang="en-US" dirty="0"/>
              <a:t>Cross Entropy Loss:</a:t>
            </a:r>
          </a:p>
          <a:p>
            <a:pPr lvl="1"/>
            <a:r>
              <a:rPr lang="en-US" dirty="0"/>
              <a:t>A loss function that measures the difference between predicted class probabilities and true class labels. </a:t>
            </a:r>
          </a:p>
          <a:p>
            <a:pPr lvl="1"/>
            <a:r>
              <a:rPr lang="en-US" dirty="0"/>
              <a:t>How it works:</a:t>
            </a:r>
          </a:p>
          <a:p>
            <a:pPr lvl="2"/>
            <a:r>
              <a:rPr lang="en-US" dirty="0"/>
              <a:t>Takes model output(4 channels for 4 classes) and ground truth labels. </a:t>
            </a:r>
          </a:p>
          <a:p>
            <a:pPr lvl="2"/>
            <a:r>
              <a:rPr lang="en-US" dirty="0"/>
              <a:t>Converts predictions to probabilities using SoftMax.</a:t>
            </a:r>
          </a:p>
          <a:p>
            <a:pPr lvl="2"/>
            <a:r>
              <a:rPr lang="en-US" dirty="0"/>
              <a:t>Penalizes confident wrong predictions heavily. </a:t>
            </a:r>
          </a:p>
          <a:p>
            <a:pPr lvl="2"/>
            <a:r>
              <a:rPr lang="en-US" dirty="0"/>
              <a:t>Formula: -log(</a:t>
            </a:r>
            <a:r>
              <a:rPr lang="en-US" dirty="0" err="1"/>
              <a:t>p_correct_class</a:t>
            </a:r>
            <a:r>
              <a:rPr lang="en-US" dirty="0"/>
              <a:t>) where p is predicted probability</a:t>
            </a:r>
          </a:p>
          <a:p>
            <a:pPr lvl="1"/>
            <a:r>
              <a:rPr lang="en-US" dirty="0"/>
              <a:t>Example: If model predicts 90% background but pixel is actually tumor, then loss is high. </a:t>
            </a:r>
          </a:p>
        </p:txBody>
      </p:sp>
    </p:spTree>
    <p:extLst>
      <p:ext uri="{BB962C8B-B14F-4D97-AF65-F5344CB8AC3E}">
        <p14:creationId xmlns:p14="http://schemas.microsoft.com/office/powerpoint/2010/main" val="286447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40A7-CBDE-0F49-A4A9-C75167BE3936}"/>
              </a:ext>
            </a:extLst>
          </p:cNvPr>
          <p:cNvSpPr>
            <a:spLocks noGrp="1"/>
          </p:cNvSpPr>
          <p:nvPr>
            <p:ph type="title"/>
          </p:nvPr>
        </p:nvSpPr>
        <p:spPr>
          <a:xfrm>
            <a:off x="612647" y="583274"/>
            <a:ext cx="10653578" cy="1132258"/>
          </a:xfrm>
        </p:spPr>
        <p:txBody>
          <a:bodyPr/>
          <a:lstStyle/>
          <a:p>
            <a:r>
              <a:rPr lang="en-US" dirty="0"/>
              <a:t>Dice Loss and Score</a:t>
            </a:r>
          </a:p>
        </p:txBody>
      </p:sp>
      <p:sp>
        <p:nvSpPr>
          <p:cNvPr id="3" name="Content Placeholder 2">
            <a:extLst>
              <a:ext uri="{FF2B5EF4-FFF2-40B4-BE49-F238E27FC236}">
                <a16:creationId xmlns:a16="http://schemas.microsoft.com/office/drawing/2014/main" id="{0C82941F-032D-CF8B-237D-572374670F4B}"/>
              </a:ext>
            </a:extLst>
          </p:cNvPr>
          <p:cNvSpPr>
            <a:spLocks noGrp="1"/>
          </p:cNvSpPr>
          <p:nvPr>
            <p:ph idx="1"/>
          </p:nvPr>
        </p:nvSpPr>
        <p:spPr/>
        <p:txBody>
          <a:bodyPr/>
          <a:lstStyle/>
          <a:p>
            <a:r>
              <a:rPr lang="en-US" dirty="0"/>
              <a:t>Measures overlap between predicted and true segmentation masks</a:t>
            </a:r>
          </a:p>
          <a:p>
            <a:r>
              <a:rPr lang="en-US" dirty="0"/>
              <a:t>Formula: Dice = 2 x |A ∩ B| / ( |A| + |B| )</a:t>
            </a:r>
          </a:p>
          <a:p>
            <a:pPr lvl="1"/>
            <a:r>
              <a:rPr lang="en-US" dirty="0"/>
              <a:t>A = predicted mask, B = ground truth mask</a:t>
            </a:r>
          </a:p>
          <a:p>
            <a:pPr lvl="1"/>
            <a:r>
              <a:rPr lang="en-US" dirty="0"/>
              <a:t>Range: 0 (no overlap) to 1 (perfect overlap)</a:t>
            </a:r>
          </a:p>
          <a:p>
            <a:r>
              <a:rPr lang="en-US" dirty="0"/>
              <a:t>Utility in medical imaging</a:t>
            </a:r>
          </a:p>
          <a:p>
            <a:pPr lvl="1"/>
            <a:r>
              <a:rPr lang="en-US" dirty="0"/>
              <a:t>Focuses on segmentation quality, not just pixel accuracy</a:t>
            </a:r>
          </a:p>
          <a:p>
            <a:pPr lvl="1"/>
            <a:r>
              <a:rPr lang="en-US" dirty="0"/>
              <a:t>Better handles class imbalance than accuracy</a:t>
            </a:r>
          </a:p>
          <a:p>
            <a:pPr lvl="1"/>
            <a:r>
              <a:rPr lang="en-US" dirty="0"/>
              <a:t>Clinically meaningful metric</a:t>
            </a:r>
          </a:p>
        </p:txBody>
      </p:sp>
    </p:spTree>
    <p:extLst>
      <p:ext uri="{BB962C8B-B14F-4D97-AF65-F5344CB8AC3E}">
        <p14:creationId xmlns:p14="http://schemas.microsoft.com/office/powerpoint/2010/main" val="16762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D502-78B4-ACB5-C8D8-DBC1F319ED8C}"/>
              </a:ext>
            </a:extLst>
          </p:cNvPr>
          <p:cNvSpPr>
            <a:spLocks noGrp="1"/>
          </p:cNvSpPr>
          <p:nvPr>
            <p:ph type="title"/>
          </p:nvPr>
        </p:nvSpPr>
        <p:spPr/>
        <p:txBody>
          <a:bodyPr/>
          <a:lstStyle/>
          <a:p>
            <a:r>
              <a:rPr lang="en-US" dirty="0"/>
              <a:t>Data Loading and Training Setup</a:t>
            </a:r>
          </a:p>
        </p:txBody>
      </p:sp>
      <p:sp>
        <p:nvSpPr>
          <p:cNvPr id="3" name="Content Placeholder 2">
            <a:extLst>
              <a:ext uri="{FF2B5EF4-FFF2-40B4-BE49-F238E27FC236}">
                <a16:creationId xmlns:a16="http://schemas.microsoft.com/office/drawing/2014/main" id="{9FEAABC7-0FDC-8111-EB5B-551B2700FCC7}"/>
              </a:ext>
            </a:extLst>
          </p:cNvPr>
          <p:cNvSpPr>
            <a:spLocks noGrp="1"/>
          </p:cNvSpPr>
          <p:nvPr>
            <p:ph idx="1"/>
          </p:nvPr>
        </p:nvSpPr>
        <p:spPr/>
        <p:txBody>
          <a:bodyPr>
            <a:normAutofit fontScale="92500" lnSpcReduction="20000"/>
          </a:bodyPr>
          <a:lstStyle/>
          <a:p>
            <a:r>
              <a:rPr lang="en-US" dirty="0"/>
              <a:t>Hardware Constraints:</a:t>
            </a:r>
          </a:p>
          <a:p>
            <a:pPr lvl="1"/>
            <a:r>
              <a:rPr lang="en-US" b="1" dirty="0"/>
              <a:t>GPU</a:t>
            </a:r>
            <a:r>
              <a:rPr lang="en-US" dirty="0"/>
              <a:t>: RTX 3070 VRAM 7GB, CUDA with mixed precision (AMP)</a:t>
            </a:r>
          </a:p>
          <a:p>
            <a:pPr lvl="1"/>
            <a:r>
              <a:rPr lang="en-US" b="1" dirty="0"/>
              <a:t>Batch size</a:t>
            </a:r>
            <a:r>
              <a:rPr lang="en-US" dirty="0"/>
              <a:t>: 1 (memory-constrained)</a:t>
            </a:r>
          </a:p>
          <a:p>
            <a:pPr lvl="1"/>
            <a:r>
              <a:rPr lang="en-US" b="1" dirty="0"/>
              <a:t>Num Workers </a:t>
            </a:r>
            <a:r>
              <a:rPr lang="en-US" dirty="0"/>
              <a:t>= 0</a:t>
            </a:r>
          </a:p>
          <a:p>
            <a:pPr lvl="1"/>
            <a:r>
              <a:rPr lang="en-US" b="1" dirty="0"/>
              <a:t>Memory management</a:t>
            </a:r>
            <a:r>
              <a:rPr lang="en-US" dirty="0"/>
              <a:t>: </a:t>
            </a:r>
            <a:r>
              <a:rPr lang="en-US" dirty="0" err="1"/>
              <a:t>torch.cuda.empty_cache</a:t>
            </a:r>
            <a:r>
              <a:rPr lang="en-US" dirty="0"/>
              <a:t>(), gradient checkpointing</a:t>
            </a:r>
          </a:p>
          <a:p>
            <a:r>
              <a:rPr lang="en-US" b="1" dirty="0"/>
              <a:t>Data split:</a:t>
            </a:r>
          </a:p>
          <a:p>
            <a:pPr lvl="1"/>
            <a:r>
              <a:rPr lang="en-US" b="1" dirty="0"/>
              <a:t>Train</a:t>
            </a:r>
            <a:r>
              <a:rPr lang="en-US" dirty="0"/>
              <a:t>: 70% (70 volumes of training per epoch)</a:t>
            </a:r>
          </a:p>
          <a:p>
            <a:pPr lvl="1"/>
            <a:r>
              <a:rPr lang="en-US" b="1" dirty="0"/>
              <a:t>Validation</a:t>
            </a:r>
            <a:r>
              <a:rPr lang="en-US" dirty="0"/>
              <a:t>: 20% (20 volumes for training predictions)</a:t>
            </a:r>
          </a:p>
          <a:p>
            <a:pPr lvl="1"/>
            <a:r>
              <a:rPr lang="en-US" b="1" dirty="0"/>
              <a:t>Test</a:t>
            </a:r>
            <a:r>
              <a:rPr lang="en-US" dirty="0"/>
              <a:t>: 10% (10 Unseen volumes for after the final epoch of learning)</a:t>
            </a:r>
          </a:p>
          <a:p>
            <a:r>
              <a:rPr lang="en-US" b="1" dirty="0"/>
              <a:t>Epochs, optimizer, learning rate:</a:t>
            </a:r>
          </a:p>
          <a:p>
            <a:pPr lvl="1"/>
            <a:r>
              <a:rPr lang="en-US" b="1" dirty="0"/>
              <a:t>Epochs</a:t>
            </a:r>
            <a:r>
              <a:rPr lang="en-US" dirty="0"/>
              <a:t>: 30 (configurable)</a:t>
            </a:r>
          </a:p>
          <a:p>
            <a:pPr lvl="1"/>
            <a:r>
              <a:rPr lang="en-US" b="1" dirty="0"/>
              <a:t>Optimizer</a:t>
            </a:r>
            <a:r>
              <a:rPr lang="en-US" dirty="0"/>
              <a:t>: Adam (</a:t>
            </a:r>
            <a:r>
              <a:rPr lang="en-US" dirty="0" err="1"/>
              <a:t>lr</a:t>
            </a:r>
            <a:r>
              <a:rPr lang="en-US" dirty="0"/>
              <a:t>=1e-4, </a:t>
            </a:r>
            <a:r>
              <a:rPr lang="en-US" dirty="0" err="1"/>
              <a:t>weight_decay</a:t>
            </a:r>
            <a:r>
              <a:rPr lang="en-US" dirty="0"/>
              <a:t>=1e-5)</a:t>
            </a:r>
          </a:p>
          <a:p>
            <a:pPr lvl="1"/>
            <a:r>
              <a:rPr lang="en-US" b="1" dirty="0"/>
              <a:t>Scheduler</a:t>
            </a:r>
            <a:r>
              <a:rPr lang="en-US" dirty="0"/>
              <a:t>: </a:t>
            </a:r>
            <a:r>
              <a:rPr lang="en-US" dirty="0" err="1"/>
              <a:t>ReduceLROnPlateau</a:t>
            </a:r>
            <a:r>
              <a:rPr lang="en-US" dirty="0"/>
              <a:t> (patience=3, factor=0.5)</a:t>
            </a:r>
          </a:p>
          <a:p>
            <a:endParaRPr lang="en-US" dirty="0"/>
          </a:p>
        </p:txBody>
      </p:sp>
    </p:spTree>
    <p:extLst>
      <p:ext uri="{BB962C8B-B14F-4D97-AF65-F5344CB8AC3E}">
        <p14:creationId xmlns:p14="http://schemas.microsoft.com/office/powerpoint/2010/main" val="3454128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5C6C2-6628-5D9A-73AB-718A40158067}"/>
              </a:ext>
            </a:extLst>
          </p:cNvPr>
          <p:cNvSpPr>
            <a:spLocks noGrp="1"/>
          </p:cNvSpPr>
          <p:nvPr>
            <p:ph type="title"/>
          </p:nvPr>
        </p:nvSpPr>
        <p:spPr>
          <a:xfrm>
            <a:off x="612648" y="345440"/>
            <a:ext cx="10653578" cy="556260"/>
          </a:xfrm>
        </p:spPr>
        <p:txBody>
          <a:bodyPr>
            <a:normAutofit fontScale="90000"/>
          </a:bodyPr>
          <a:lstStyle/>
          <a:p>
            <a:r>
              <a:rPr lang="en-US" dirty="0"/>
              <a:t>Metrics</a:t>
            </a:r>
          </a:p>
        </p:txBody>
      </p:sp>
      <p:sp>
        <p:nvSpPr>
          <p:cNvPr id="3" name="Content Placeholder 2">
            <a:extLst>
              <a:ext uri="{FF2B5EF4-FFF2-40B4-BE49-F238E27FC236}">
                <a16:creationId xmlns:a16="http://schemas.microsoft.com/office/drawing/2014/main" id="{2623E8E3-00F1-6887-F64D-D213069603FC}"/>
              </a:ext>
            </a:extLst>
          </p:cNvPr>
          <p:cNvSpPr>
            <a:spLocks noGrp="1"/>
          </p:cNvSpPr>
          <p:nvPr>
            <p:ph idx="1"/>
          </p:nvPr>
        </p:nvSpPr>
        <p:spPr>
          <a:xfrm>
            <a:off x="612648" y="1104900"/>
            <a:ext cx="10653579" cy="5181600"/>
          </a:xfrm>
        </p:spPr>
        <p:txBody>
          <a:bodyPr/>
          <a:lstStyle/>
          <a:p>
            <a:r>
              <a:rPr lang="en-US" dirty="0"/>
              <a:t>Dice Score per class:</a:t>
            </a:r>
          </a:p>
          <a:p>
            <a:pPr lvl="1"/>
            <a:r>
              <a:rPr lang="en-US" dirty="0"/>
              <a:t>Background: 0.9947</a:t>
            </a:r>
          </a:p>
          <a:p>
            <a:pPr lvl="1"/>
            <a:r>
              <a:rPr lang="en-US" dirty="0"/>
              <a:t>Necrotic/Cystic: 0.9633</a:t>
            </a:r>
          </a:p>
          <a:p>
            <a:pPr lvl="1"/>
            <a:r>
              <a:rPr lang="en-US" dirty="0"/>
              <a:t>Edema: 0.0073</a:t>
            </a:r>
          </a:p>
          <a:p>
            <a:pPr lvl="1"/>
            <a:r>
              <a:rPr lang="en-US" dirty="0"/>
              <a:t>Enhancing Tumor: 0.4108</a:t>
            </a:r>
          </a:p>
          <a:p>
            <a:r>
              <a:rPr lang="en-US" dirty="0"/>
              <a:t>Why Dice is preferred for medical imaging:</a:t>
            </a:r>
          </a:p>
          <a:p>
            <a:pPr lvl="1"/>
            <a:r>
              <a:rPr lang="en-US" dirty="0"/>
              <a:t>Class imbalance handling: Less sensitive to class imbalance than accuracy</a:t>
            </a:r>
          </a:p>
          <a:p>
            <a:pPr lvl="1"/>
            <a:r>
              <a:rPr lang="en-US" dirty="0"/>
              <a:t>Overlap measurement: Directly measures region overlap</a:t>
            </a:r>
          </a:p>
          <a:p>
            <a:pPr lvl="1"/>
            <a:r>
              <a:rPr lang="en-US" dirty="0"/>
              <a:t>Medical relevance: Clinically meaningful for tumor segmentation</a:t>
            </a:r>
          </a:p>
          <a:p>
            <a:r>
              <a:rPr lang="en-US" dirty="0"/>
              <a:t>Improvement over epochs:</a:t>
            </a:r>
          </a:p>
          <a:p>
            <a:pPr lvl="1"/>
            <a:r>
              <a:rPr lang="en-US" dirty="0"/>
              <a:t>Available: Training logs show decreasing loss trend</a:t>
            </a:r>
          </a:p>
          <a:p>
            <a:pPr lvl="1"/>
            <a:r>
              <a:rPr lang="en-US" dirty="0"/>
              <a:t>Monitoring: Per-epoch validation dice scores tracked</a:t>
            </a:r>
          </a:p>
        </p:txBody>
      </p:sp>
    </p:spTree>
    <p:extLst>
      <p:ext uri="{BB962C8B-B14F-4D97-AF65-F5344CB8AC3E}">
        <p14:creationId xmlns:p14="http://schemas.microsoft.com/office/powerpoint/2010/main" val="161741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0B640-43BC-0419-0F25-7C6A3B17A3A5}"/>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01DDE17E-EB1E-07B8-9DBB-8E78786DC26E}"/>
              </a:ext>
            </a:extLst>
          </p:cNvPr>
          <p:cNvSpPr>
            <a:spLocks noGrp="1"/>
          </p:cNvSpPr>
          <p:nvPr>
            <p:ph idx="1"/>
          </p:nvPr>
        </p:nvSpPr>
        <p:spPr/>
        <p:txBody>
          <a:bodyPr numCol="3">
            <a:normAutofit fontScale="32500" lnSpcReduction="20000"/>
          </a:bodyPr>
          <a:lstStyle/>
          <a:p>
            <a:r>
              <a:rPr lang="en-US" dirty="0"/>
              <a:t>Training Epoch: 0</a:t>
            </a:r>
          </a:p>
          <a:p>
            <a:r>
              <a:rPr lang="en-US" dirty="0"/>
              <a:t>Epoch [1/30], Average Train Loss: 1.0884, Val Loss: 1.0706, Val Dice: 0.8844</a:t>
            </a:r>
          </a:p>
          <a:p>
            <a:r>
              <a:rPr lang="en-US" dirty="0"/>
              <a:t>Training Epoch: 1</a:t>
            </a:r>
          </a:p>
          <a:p>
            <a:r>
              <a:rPr lang="en-US" dirty="0"/>
              <a:t>Epoch [2/30], Average Train Loss: 0.8205, Val Loss: 0.7224, Val Dice: 0.9935</a:t>
            </a:r>
          </a:p>
          <a:p>
            <a:r>
              <a:rPr lang="en-US" dirty="0"/>
              <a:t>Training Epoch: 2</a:t>
            </a:r>
          </a:p>
          <a:p>
            <a:r>
              <a:rPr lang="en-US" dirty="0"/>
              <a:t>Epoch [3/30], Average Train Loss: 0.7077, Val Loss: 0.6117, Val Dice: 0.9928</a:t>
            </a:r>
          </a:p>
          <a:p>
            <a:r>
              <a:rPr lang="en-US" dirty="0"/>
              <a:t>Training Epoch: 3</a:t>
            </a:r>
          </a:p>
          <a:p>
            <a:r>
              <a:rPr lang="en-US" dirty="0"/>
              <a:t>Epoch [4/30], Average Train Loss: 0.6365, Val Loss: 0.5543, Val Dice: 0.9938</a:t>
            </a:r>
          </a:p>
          <a:p>
            <a:r>
              <a:rPr lang="en-US" dirty="0"/>
              <a:t>Training Epoch: 4</a:t>
            </a:r>
          </a:p>
          <a:p>
            <a:r>
              <a:rPr lang="en-US" dirty="0"/>
              <a:t>Epoch [5/30], Average Train Loss: 0.5717, Val Loss: 0.5502, Val Dice: 0.9636</a:t>
            </a:r>
          </a:p>
          <a:p>
            <a:r>
              <a:rPr lang="en-US" dirty="0"/>
              <a:t>Training Epoch: 5</a:t>
            </a:r>
          </a:p>
          <a:p>
            <a:r>
              <a:rPr lang="en-US" dirty="0"/>
              <a:t>Epoch [6/30], Average Train Loss: 0.5135, Val Loss: 0.4636, Val Dice: 0.9937</a:t>
            </a:r>
          </a:p>
          <a:p>
            <a:r>
              <a:rPr lang="en-US" dirty="0"/>
              <a:t>Training Epoch: 6</a:t>
            </a:r>
          </a:p>
          <a:p>
            <a:r>
              <a:rPr lang="en-US" dirty="0"/>
              <a:t>Epoch [7/30], Average Train Loss: 0.4614, Val Loss: 0.4345, Val Dice: 0.9938</a:t>
            </a:r>
          </a:p>
          <a:p>
            <a:r>
              <a:rPr lang="en-US" dirty="0"/>
              <a:t>Training Epoch: 7</a:t>
            </a:r>
          </a:p>
          <a:p>
            <a:r>
              <a:rPr lang="en-US" dirty="0"/>
              <a:t>Epoch [8/30], Average Train Loss: 0.4151, Val Loss: 0.3814, Val Dice: 0.9941</a:t>
            </a:r>
          </a:p>
          <a:p>
            <a:r>
              <a:rPr lang="en-US" dirty="0"/>
              <a:t>Training Epoch: 8</a:t>
            </a:r>
          </a:p>
          <a:p>
            <a:r>
              <a:rPr lang="en-US" dirty="0"/>
              <a:t>Epoch [9/30], Average Train Loss: 0.3755, Val Loss: 0.6309, Val Dice: 0.9268</a:t>
            </a:r>
          </a:p>
          <a:p>
            <a:r>
              <a:rPr lang="en-US" dirty="0"/>
              <a:t>Training Epoch: 9</a:t>
            </a:r>
          </a:p>
          <a:p>
            <a:r>
              <a:rPr lang="en-US" dirty="0"/>
              <a:t>Epoch [10/30], Average Train Loss: 0.3391, Val Loss: 0.3104, Val Dice: 0.9940</a:t>
            </a:r>
          </a:p>
          <a:p>
            <a:r>
              <a:rPr lang="en-US" dirty="0"/>
              <a:t>Training Epoch: 10</a:t>
            </a:r>
          </a:p>
          <a:p>
            <a:r>
              <a:rPr lang="en-US" dirty="0"/>
              <a:t>Epoch [11/30], Average Train Loss: 0.3066, Val Loss: 0.2876, Val Dice: 0.9941</a:t>
            </a:r>
          </a:p>
          <a:p>
            <a:r>
              <a:rPr lang="en-US" dirty="0"/>
              <a:t>Training Epoch: 11</a:t>
            </a:r>
          </a:p>
          <a:p>
            <a:r>
              <a:rPr lang="en-US" dirty="0"/>
              <a:t>Epoch [12/30], Average Train Loss: 0.2787, Val Loss: 0.2632, Val Dice: 0.9943</a:t>
            </a:r>
          </a:p>
          <a:p>
            <a:r>
              <a:rPr lang="en-US" dirty="0"/>
              <a:t>Training Epoch: 12</a:t>
            </a:r>
          </a:p>
          <a:p>
            <a:r>
              <a:rPr lang="en-US" dirty="0"/>
              <a:t>Epoch [13/30], Average Train Loss: 0.2525, Val Loss: 0.2169, Val Dice: 0.9942</a:t>
            </a:r>
          </a:p>
          <a:p>
            <a:r>
              <a:rPr lang="en-US" dirty="0"/>
              <a:t>Training Epoch: 13</a:t>
            </a:r>
          </a:p>
          <a:p>
            <a:r>
              <a:rPr lang="en-US" dirty="0"/>
              <a:t>Epoch [14/30], Average Train Loss: 0.2331, Val Loss: 0.2099, Val Dice: 0.9940</a:t>
            </a:r>
          </a:p>
          <a:p>
            <a:r>
              <a:rPr lang="en-US" dirty="0"/>
              <a:t>Training Epoch: 14</a:t>
            </a:r>
          </a:p>
          <a:p>
            <a:r>
              <a:rPr lang="en-US" dirty="0"/>
              <a:t>Epoch [15/30], Average Train Loss: 0.2126, Val Loss: 0.2300, Val Dice: 0.9927</a:t>
            </a:r>
          </a:p>
          <a:p>
            <a:r>
              <a:rPr lang="en-US" dirty="0"/>
              <a:t>Training Epoch: 15</a:t>
            </a:r>
          </a:p>
          <a:p>
            <a:r>
              <a:rPr lang="en-US" dirty="0"/>
              <a:t>Training Epoch: 18</a:t>
            </a:r>
          </a:p>
          <a:p>
            <a:r>
              <a:rPr lang="en-US" dirty="0"/>
              <a:t>Epoch [19/30], Average Train Loss: 0.1660, Val Loss: 0.1534, Val Dice: 0.9940</a:t>
            </a:r>
          </a:p>
          <a:p>
            <a:r>
              <a:rPr lang="en-US" dirty="0"/>
              <a:t>Training Epoch: 19</a:t>
            </a:r>
          </a:p>
          <a:p>
            <a:r>
              <a:rPr lang="en-US" dirty="0"/>
              <a:t>Training Epoch: 22</a:t>
            </a:r>
          </a:p>
          <a:p>
            <a:r>
              <a:rPr lang="en-US" dirty="0"/>
              <a:t>Epoch [23/30], Average Train Loss: 0.1458, Val Loss: 0.1422, Val Dice: 0.9946</a:t>
            </a:r>
          </a:p>
          <a:p>
            <a:r>
              <a:rPr lang="en-US" dirty="0"/>
              <a:t>Training Epoch: 24</a:t>
            </a:r>
          </a:p>
          <a:p>
            <a:r>
              <a:rPr lang="en-US" dirty="0"/>
              <a:t>Epoch [25/30], Average Train Loss: 0.1398, Val Loss: 0.1398, Val Dice: 0.9943</a:t>
            </a:r>
          </a:p>
          <a:p>
            <a:r>
              <a:rPr lang="en-US" dirty="0"/>
              <a:t>Training Epoch: 25</a:t>
            </a:r>
          </a:p>
          <a:p>
            <a:r>
              <a:rPr lang="en-US" dirty="0"/>
              <a:t>Epoch [26/30], Average Train Loss: 0.1361, Val Loss: 0.1273, Val Dice: 0.9945</a:t>
            </a:r>
          </a:p>
          <a:p>
            <a:r>
              <a:rPr lang="en-US" dirty="0"/>
              <a:t>Training Epoch: 26</a:t>
            </a:r>
          </a:p>
          <a:p>
            <a:r>
              <a:rPr lang="en-US" dirty="0"/>
              <a:t>Epoch [27/30], Average Train Loss: 0.1329, Val Loss: 0.1291, Val Dice: 0.9943</a:t>
            </a:r>
          </a:p>
          <a:p>
            <a:r>
              <a:rPr lang="en-US" dirty="0"/>
              <a:t>Training Epoch: 27</a:t>
            </a:r>
          </a:p>
          <a:p>
            <a:r>
              <a:rPr lang="en-US" dirty="0"/>
              <a:t>Epoch [28/30], Average Train Loss: 0.1302, Val Loss: 0.1308, Val Dice: 0.9944</a:t>
            </a:r>
          </a:p>
          <a:p>
            <a:r>
              <a:rPr lang="en-US" dirty="0"/>
              <a:t>Training Epoch: 28</a:t>
            </a:r>
          </a:p>
          <a:p>
            <a:r>
              <a:rPr lang="en-US" dirty="0"/>
              <a:t>Epoch [29/30], Average Train Loss: 0.1286, Val Loss: 0.1246, Val Dice: 0.9946</a:t>
            </a:r>
          </a:p>
          <a:p>
            <a:r>
              <a:rPr lang="en-US" dirty="0"/>
              <a:t>Training Epoch: 29</a:t>
            </a:r>
          </a:p>
          <a:p>
            <a:r>
              <a:rPr lang="en-US" dirty="0"/>
              <a:t>Epoch [30/30], Average Train Loss: 0.1270, Val Loss: 0.1215, Val Dice: 0.9947</a:t>
            </a:r>
          </a:p>
          <a:p>
            <a:endParaRPr lang="en-US" dirty="0"/>
          </a:p>
          <a:p>
            <a:r>
              <a:rPr lang="en-US" dirty="0"/>
              <a:t>Evaluating on Test Set:</a:t>
            </a:r>
          </a:p>
          <a:p>
            <a:r>
              <a:rPr lang="en-US" dirty="0"/>
              <a:t>Test Loss: 0.7471, Test Dice Score: 0.9271</a:t>
            </a:r>
          </a:p>
          <a:p>
            <a:r>
              <a:rPr lang="en-US" dirty="0"/>
              <a:t>Test Dice Scores: NCR: 0.9633, ED: 0.0073, ET: 0.4108</a:t>
            </a:r>
          </a:p>
        </p:txBody>
      </p:sp>
    </p:spTree>
    <p:extLst>
      <p:ext uri="{BB962C8B-B14F-4D97-AF65-F5344CB8AC3E}">
        <p14:creationId xmlns:p14="http://schemas.microsoft.com/office/powerpoint/2010/main" val="1078012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64FFC-148F-EE18-3B5B-D87F94964067}"/>
              </a:ext>
            </a:extLst>
          </p:cNvPr>
          <p:cNvSpPr>
            <a:spLocks noGrp="1"/>
          </p:cNvSpPr>
          <p:nvPr>
            <p:ph type="title"/>
          </p:nvPr>
        </p:nvSpPr>
        <p:spPr/>
        <p:txBody>
          <a:bodyPr/>
          <a:lstStyle/>
          <a:p>
            <a:r>
              <a:rPr lang="en-US" dirty="0"/>
              <a:t>Visual Results</a:t>
            </a:r>
          </a:p>
        </p:txBody>
      </p:sp>
      <p:sp>
        <p:nvSpPr>
          <p:cNvPr id="3" name="Content Placeholder 2">
            <a:extLst>
              <a:ext uri="{FF2B5EF4-FFF2-40B4-BE49-F238E27FC236}">
                <a16:creationId xmlns:a16="http://schemas.microsoft.com/office/drawing/2014/main" id="{EB4B1E7B-04E4-B19F-33A6-2B8BBCEA7953}"/>
              </a:ext>
            </a:extLst>
          </p:cNvPr>
          <p:cNvSpPr>
            <a:spLocks noGrp="1"/>
          </p:cNvSpPr>
          <p:nvPr>
            <p:ph idx="1"/>
          </p:nvPr>
        </p:nvSpPr>
        <p:spPr/>
        <p:txBody>
          <a:bodyPr/>
          <a:lstStyle/>
          <a:p>
            <a:pPr>
              <a:spcBef>
                <a:spcPts val="150"/>
              </a:spcBef>
              <a:spcAft>
                <a:spcPts val="150"/>
              </a:spcAft>
              <a:buFont typeface="Arial" panose="020B0604020202020204" pitchFamily="34" charset="0"/>
              <a:buChar char="•"/>
            </a:pPr>
            <a:r>
              <a:rPr lang="en-US" b="1" dirty="0">
                <a:effectLst/>
              </a:rPr>
              <a:t>Slices from early + final epochs side by side:</a:t>
            </a:r>
          </a:p>
          <a:p>
            <a:pPr lvl="1">
              <a:spcBef>
                <a:spcPts val="150"/>
              </a:spcBef>
              <a:spcAft>
                <a:spcPts val="150"/>
              </a:spcAft>
            </a:pPr>
            <a:r>
              <a:rPr lang="en-US" b="1" dirty="0">
                <a:effectLst/>
              </a:rPr>
              <a:t>Available</a:t>
            </a:r>
            <a:r>
              <a:rPr lang="en-US" dirty="0">
                <a:effectLst/>
              </a:rPr>
              <a:t>: </a:t>
            </a:r>
            <a:r>
              <a:rPr lang="en-US" dirty="0" err="1">
                <a:effectLst/>
                <a:latin typeface="Consolas" panose="020B0609020204030204" pitchFamily="49" charset="0"/>
              </a:rPr>
              <a:t>visualize_volume_prediction</a:t>
            </a:r>
            <a:r>
              <a:rPr lang="en-US" dirty="0">
                <a:effectLst/>
                <a:latin typeface="Consolas" panose="020B0609020204030204" pitchFamily="49" charset="0"/>
              </a:rPr>
              <a:t>()</a:t>
            </a:r>
            <a:r>
              <a:rPr lang="en-US" dirty="0">
                <a:effectLst/>
              </a:rPr>
              <a:t> saves epoch-specific visualizations</a:t>
            </a:r>
          </a:p>
          <a:p>
            <a:pPr lvl="1">
              <a:spcBef>
                <a:spcPts val="150"/>
              </a:spcBef>
              <a:spcAft>
                <a:spcPts val="150"/>
              </a:spcAft>
            </a:pPr>
            <a:r>
              <a:rPr lang="en-US" b="1" dirty="0">
                <a:effectLst/>
              </a:rPr>
              <a:t>Output</a:t>
            </a:r>
            <a:r>
              <a:rPr lang="en-US" dirty="0">
                <a:effectLst/>
              </a:rPr>
              <a:t>: Ground truth vs prediction comparisons every 5 epochs</a:t>
            </a:r>
          </a:p>
          <a:p>
            <a:pPr>
              <a:spcBef>
                <a:spcPts val="150"/>
              </a:spcBef>
              <a:spcAft>
                <a:spcPts val="150"/>
              </a:spcAft>
            </a:pPr>
            <a:r>
              <a:rPr lang="en-US" b="1" dirty="0">
                <a:effectLst/>
              </a:rPr>
              <a:t>Ground truth vs prediction comparison:</a:t>
            </a:r>
          </a:p>
          <a:p>
            <a:pPr lvl="1">
              <a:spcBef>
                <a:spcPts val="150"/>
              </a:spcBef>
              <a:spcAft>
                <a:spcPts val="150"/>
              </a:spcAft>
            </a:pPr>
            <a:r>
              <a:rPr lang="en-US" b="1" dirty="0">
                <a:effectLst/>
              </a:rPr>
              <a:t>Available</a:t>
            </a:r>
            <a:r>
              <a:rPr lang="en-US" dirty="0">
                <a:effectLst/>
              </a:rPr>
              <a:t>: </a:t>
            </a:r>
            <a:r>
              <a:rPr lang="en-US" dirty="0" err="1">
                <a:effectLst/>
                <a:latin typeface="Consolas" panose="020B0609020204030204" pitchFamily="49" charset="0"/>
              </a:rPr>
              <a:t>visualize_test_detections</a:t>
            </a:r>
            <a:r>
              <a:rPr lang="en-US" dirty="0">
                <a:effectLst/>
                <a:latin typeface="Consolas" panose="020B0609020204030204" pitchFamily="49" charset="0"/>
              </a:rPr>
              <a:t>()</a:t>
            </a:r>
            <a:r>
              <a:rPr lang="en-US" dirty="0">
                <a:effectLst/>
              </a:rPr>
              <a:t> creates side-by-side comparisons</a:t>
            </a:r>
          </a:p>
          <a:p>
            <a:pPr lvl="1">
              <a:spcBef>
                <a:spcPts val="150"/>
              </a:spcBef>
              <a:spcAft>
                <a:spcPts val="150"/>
              </a:spcAft>
            </a:pPr>
            <a:r>
              <a:rPr lang="en-US" b="1" dirty="0">
                <a:effectLst/>
              </a:rPr>
              <a:t>Output</a:t>
            </a:r>
            <a:r>
              <a:rPr lang="en-US" dirty="0">
                <a:effectLst/>
              </a:rPr>
              <a:t>: Saved as PNG files in </a:t>
            </a:r>
            <a:r>
              <a:rPr lang="en-US" dirty="0">
                <a:effectLst/>
                <a:latin typeface="Consolas" panose="020B0609020204030204" pitchFamily="49" charset="0"/>
              </a:rPr>
              <a:t>outputs/run-{</a:t>
            </a:r>
            <a:r>
              <a:rPr lang="en-US" dirty="0" err="1">
                <a:effectLst/>
                <a:latin typeface="Consolas" panose="020B0609020204030204" pitchFamily="49" charset="0"/>
              </a:rPr>
              <a:t>run_number</a:t>
            </a:r>
            <a:r>
              <a:rPr lang="en-US" dirty="0">
                <a:effectLst/>
                <a:latin typeface="Consolas" panose="020B0609020204030204" pitchFamily="49" charset="0"/>
              </a:rPr>
              <a:t>}_ss-{</a:t>
            </a:r>
            <a:r>
              <a:rPr lang="en-US" dirty="0" err="1">
                <a:effectLst/>
                <a:latin typeface="Consolas" panose="020B0609020204030204" pitchFamily="49" charset="0"/>
              </a:rPr>
              <a:t>sample_size</a:t>
            </a:r>
            <a:r>
              <a:rPr lang="en-US" dirty="0">
                <a:effectLst/>
                <a:latin typeface="Consolas" panose="020B0609020204030204" pitchFamily="49" charset="0"/>
              </a:rPr>
              <a:t>}/</a:t>
            </a:r>
            <a:endParaRPr lang="en-US" dirty="0">
              <a:effectLst/>
            </a:endParaRPr>
          </a:p>
          <a:p>
            <a:pPr>
              <a:spcBef>
                <a:spcPts val="150"/>
              </a:spcBef>
              <a:spcAft>
                <a:spcPts val="150"/>
              </a:spcAft>
              <a:buFont typeface="Arial" panose="020B0604020202020204" pitchFamily="34" charset="0"/>
              <a:buChar char="•"/>
            </a:pPr>
            <a:r>
              <a:rPr lang="en-US" b="1" dirty="0">
                <a:effectLst/>
              </a:rPr>
              <a:t>Highlight failures:</a:t>
            </a:r>
          </a:p>
          <a:p>
            <a:pPr lvl="1">
              <a:spcBef>
                <a:spcPts val="150"/>
              </a:spcBef>
              <a:spcAft>
                <a:spcPts val="150"/>
              </a:spcAft>
            </a:pPr>
            <a:r>
              <a:rPr lang="en-US" b="1" dirty="0">
                <a:effectLst/>
              </a:rPr>
              <a:t>ED class</a:t>
            </a:r>
            <a:r>
              <a:rPr lang="en-US" dirty="0">
                <a:effectLst/>
              </a:rPr>
              <a:t>: Extremely poor performance (0.0073% dice)</a:t>
            </a:r>
          </a:p>
          <a:p>
            <a:pPr lvl="1">
              <a:spcBef>
                <a:spcPts val="150"/>
              </a:spcBef>
              <a:spcAft>
                <a:spcPts val="150"/>
              </a:spcAft>
            </a:pPr>
            <a:r>
              <a:rPr lang="en-US" b="1" dirty="0">
                <a:effectLst/>
              </a:rPr>
              <a:t>Class imbalance</a:t>
            </a:r>
            <a:r>
              <a:rPr lang="en-US" dirty="0">
                <a:effectLst/>
              </a:rPr>
              <a:t>: Model heavily biased toward background</a:t>
            </a:r>
          </a:p>
          <a:p>
            <a:endParaRPr lang="en-US" dirty="0"/>
          </a:p>
        </p:txBody>
      </p:sp>
    </p:spTree>
    <p:extLst>
      <p:ext uri="{BB962C8B-B14F-4D97-AF65-F5344CB8AC3E}">
        <p14:creationId xmlns:p14="http://schemas.microsoft.com/office/powerpoint/2010/main" val="1725308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37D4-338E-B58E-D32C-1BD2630CD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05CDA-5546-CCD1-DE61-7BD2874190CF}"/>
              </a:ext>
            </a:extLst>
          </p:cNvPr>
          <p:cNvSpPr>
            <a:spLocks noGrp="1"/>
          </p:cNvSpPr>
          <p:nvPr>
            <p:ph type="title"/>
          </p:nvPr>
        </p:nvSpPr>
        <p:spPr/>
        <p:txBody>
          <a:bodyPr/>
          <a:lstStyle/>
          <a:p>
            <a:r>
              <a:rPr lang="en-US" dirty="0"/>
              <a:t>Visual Results - 3D rotation animation view</a:t>
            </a:r>
          </a:p>
        </p:txBody>
      </p:sp>
      <p:pic>
        <p:nvPicPr>
          <p:cNvPr id="5" name="Content Placeholder 4" descr="3D visualization of labeled tumor region (red) overlayed on the brain (blue). This is a ground truth label.&#10;">
            <a:extLst>
              <a:ext uri="{FF2B5EF4-FFF2-40B4-BE49-F238E27FC236}">
                <a16:creationId xmlns:a16="http://schemas.microsoft.com/office/drawing/2014/main" id="{593854F8-A332-24EF-5631-4BAEEA3698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8326" y="1205006"/>
            <a:ext cx="7658100" cy="5476531"/>
          </a:xfrm>
        </p:spPr>
      </p:pic>
      <p:sp>
        <p:nvSpPr>
          <p:cNvPr id="15" name="TextBox 14">
            <a:extLst>
              <a:ext uri="{FF2B5EF4-FFF2-40B4-BE49-F238E27FC236}">
                <a16:creationId xmlns:a16="http://schemas.microsoft.com/office/drawing/2014/main" id="{FEE955AD-99B1-8EA4-7E51-0749F049393F}"/>
              </a:ext>
            </a:extLst>
          </p:cNvPr>
          <p:cNvSpPr txBox="1"/>
          <p:nvPr/>
        </p:nvSpPr>
        <p:spPr>
          <a:xfrm>
            <a:off x="2679700" y="1357732"/>
            <a:ext cx="6096000" cy="646331"/>
          </a:xfrm>
          <a:prstGeom prst="rect">
            <a:avLst/>
          </a:prstGeom>
          <a:noFill/>
        </p:spPr>
        <p:txBody>
          <a:bodyPr wrap="square">
            <a:spAutoFit/>
          </a:bodyPr>
          <a:lstStyle/>
          <a:p>
            <a:r>
              <a:rPr lang="en-US" dirty="0"/>
              <a:t>3D visualization of labeled tumor region (red) overlayed on the brain (blue). This is a ground truth label. </a:t>
            </a:r>
          </a:p>
        </p:txBody>
      </p:sp>
    </p:spTree>
    <p:extLst>
      <p:ext uri="{BB962C8B-B14F-4D97-AF65-F5344CB8AC3E}">
        <p14:creationId xmlns:p14="http://schemas.microsoft.com/office/powerpoint/2010/main" val="115421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295F-C58E-492F-104F-3AC9CCAF0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D8D0C-533B-32FA-63D7-107457D9A4DA}"/>
              </a:ext>
            </a:extLst>
          </p:cNvPr>
          <p:cNvSpPr>
            <a:spLocks noGrp="1"/>
          </p:cNvSpPr>
          <p:nvPr>
            <p:ph type="title"/>
          </p:nvPr>
        </p:nvSpPr>
        <p:spPr/>
        <p:txBody>
          <a:bodyPr/>
          <a:lstStyle/>
          <a:p>
            <a:r>
              <a:rPr lang="en-US" dirty="0"/>
              <a:t>Visual Results – 3D angled view image</a:t>
            </a:r>
          </a:p>
        </p:txBody>
      </p:sp>
      <p:pic>
        <p:nvPicPr>
          <p:cNvPr id="7" name="Content Placeholder 6">
            <a:extLst>
              <a:ext uri="{FF2B5EF4-FFF2-40B4-BE49-F238E27FC236}">
                <a16:creationId xmlns:a16="http://schemas.microsoft.com/office/drawing/2014/main" id="{915D8D33-EDD6-8E33-5B3C-D8940816F4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9073" y="1487488"/>
            <a:ext cx="6123516" cy="4592637"/>
          </a:xfrm>
        </p:spPr>
      </p:pic>
      <p:sp>
        <p:nvSpPr>
          <p:cNvPr id="9" name="TextBox 8">
            <a:extLst>
              <a:ext uri="{FF2B5EF4-FFF2-40B4-BE49-F238E27FC236}">
                <a16:creationId xmlns:a16="http://schemas.microsoft.com/office/drawing/2014/main" id="{EBB22AD4-9E6B-027F-76E1-E0174B0241F2}"/>
              </a:ext>
            </a:extLst>
          </p:cNvPr>
          <p:cNvSpPr txBox="1"/>
          <p:nvPr/>
        </p:nvSpPr>
        <p:spPr>
          <a:xfrm>
            <a:off x="2794000" y="1581835"/>
            <a:ext cx="6096000" cy="646331"/>
          </a:xfrm>
          <a:prstGeom prst="rect">
            <a:avLst/>
          </a:prstGeom>
          <a:noFill/>
        </p:spPr>
        <p:txBody>
          <a:bodyPr wrap="square">
            <a:spAutoFit/>
          </a:bodyPr>
          <a:lstStyle/>
          <a:p>
            <a:r>
              <a:rPr lang="en-US" dirty="0"/>
              <a:t>3D visualization of labeled tumor region (red) overlayed on the brain (blue). This is a ground truth label. </a:t>
            </a:r>
          </a:p>
        </p:txBody>
      </p:sp>
    </p:spTree>
    <p:extLst>
      <p:ext uri="{BB962C8B-B14F-4D97-AF65-F5344CB8AC3E}">
        <p14:creationId xmlns:p14="http://schemas.microsoft.com/office/powerpoint/2010/main" val="4230635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87BD3-D9F2-4440-B23F-A20112EBF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CD25E-81E8-F3C6-302F-E6C7E54C5F73}"/>
              </a:ext>
            </a:extLst>
          </p:cNvPr>
          <p:cNvSpPr>
            <a:spLocks noGrp="1"/>
          </p:cNvSpPr>
          <p:nvPr>
            <p:ph type="title"/>
          </p:nvPr>
        </p:nvSpPr>
        <p:spPr/>
        <p:txBody>
          <a:bodyPr/>
          <a:lstStyle/>
          <a:p>
            <a:r>
              <a:rPr lang="en-US" dirty="0"/>
              <a:t>Visual Results – 3D top-down view image</a:t>
            </a:r>
          </a:p>
        </p:txBody>
      </p:sp>
      <p:pic>
        <p:nvPicPr>
          <p:cNvPr id="6" name="Content Placeholder 5">
            <a:extLst>
              <a:ext uri="{FF2B5EF4-FFF2-40B4-BE49-F238E27FC236}">
                <a16:creationId xmlns:a16="http://schemas.microsoft.com/office/drawing/2014/main" id="{A8431B4D-ED3F-87AC-3C8E-E9FE4472B8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873" y="1716088"/>
            <a:ext cx="6123516" cy="4592637"/>
          </a:xfrm>
        </p:spPr>
      </p:pic>
      <p:sp>
        <p:nvSpPr>
          <p:cNvPr id="9" name="TextBox 8">
            <a:extLst>
              <a:ext uri="{FF2B5EF4-FFF2-40B4-BE49-F238E27FC236}">
                <a16:creationId xmlns:a16="http://schemas.microsoft.com/office/drawing/2014/main" id="{37FE6521-FF6D-0AC2-819B-7C3DC5E5CF7C}"/>
              </a:ext>
            </a:extLst>
          </p:cNvPr>
          <p:cNvSpPr txBox="1"/>
          <p:nvPr/>
        </p:nvSpPr>
        <p:spPr>
          <a:xfrm>
            <a:off x="2905389" y="1114769"/>
            <a:ext cx="6096000" cy="646331"/>
          </a:xfrm>
          <a:prstGeom prst="rect">
            <a:avLst/>
          </a:prstGeom>
          <a:noFill/>
        </p:spPr>
        <p:txBody>
          <a:bodyPr wrap="square">
            <a:spAutoFit/>
          </a:bodyPr>
          <a:lstStyle/>
          <a:p>
            <a:r>
              <a:rPr lang="en-US" dirty="0"/>
              <a:t>3D visualization of labeled tumor region (red) overlayed on the brain (blue). This is a ground truth label. </a:t>
            </a:r>
          </a:p>
        </p:txBody>
      </p:sp>
    </p:spTree>
    <p:extLst>
      <p:ext uri="{BB962C8B-B14F-4D97-AF65-F5344CB8AC3E}">
        <p14:creationId xmlns:p14="http://schemas.microsoft.com/office/powerpoint/2010/main" val="3599574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3C84B-91C2-C9FE-E812-635B054D2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5AE7A-3A0A-26EF-523B-B78B183D224C}"/>
              </a:ext>
            </a:extLst>
          </p:cNvPr>
          <p:cNvSpPr>
            <a:spLocks noGrp="1"/>
          </p:cNvSpPr>
          <p:nvPr>
            <p:ph type="title"/>
          </p:nvPr>
        </p:nvSpPr>
        <p:spPr/>
        <p:txBody>
          <a:bodyPr/>
          <a:lstStyle/>
          <a:p>
            <a:r>
              <a:rPr lang="en-US" dirty="0"/>
              <a:t>Visual Results – 3D side view image</a:t>
            </a:r>
          </a:p>
        </p:txBody>
      </p:sp>
      <p:pic>
        <p:nvPicPr>
          <p:cNvPr id="6" name="Content Placeholder 5">
            <a:extLst>
              <a:ext uri="{FF2B5EF4-FFF2-40B4-BE49-F238E27FC236}">
                <a16:creationId xmlns:a16="http://schemas.microsoft.com/office/drawing/2014/main" id="{C2A750CB-AFFE-C1E8-9902-0658FA3A60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679" y="1799958"/>
            <a:ext cx="6123516" cy="4592637"/>
          </a:xfrm>
        </p:spPr>
      </p:pic>
      <p:sp>
        <p:nvSpPr>
          <p:cNvPr id="9" name="TextBox 8">
            <a:extLst>
              <a:ext uri="{FF2B5EF4-FFF2-40B4-BE49-F238E27FC236}">
                <a16:creationId xmlns:a16="http://schemas.microsoft.com/office/drawing/2014/main" id="{7513E647-1547-381E-928E-1BD75EF66AD5}"/>
              </a:ext>
            </a:extLst>
          </p:cNvPr>
          <p:cNvSpPr txBox="1"/>
          <p:nvPr/>
        </p:nvSpPr>
        <p:spPr>
          <a:xfrm>
            <a:off x="2667000" y="1264335"/>
            <a:ext cx="6096000" cy="646331"/>
          </a:xfrm>
          <a:prstGeom prst="rect">
            <a:avLst/>
          </a:prstGeom>
          <a:noFill/>
        </p:spPr>
        <p:txBody>
          <a:bodyPr wrap="square">
            <a:spAutoFit/>
          </a:bodyPr>
          <a:lstStyle/>
          <a:p>
            <a:r>
              <a:rPr lang="en-US" dirty="0"/>
              <a:t>3D visualization of labeled tumor region (red) overlayed on the brain (blue). This is a ground truth label. </a:t>
            </a:r>
          </a:p>
        </p:txBody>
      </p:sp>
    </p:spTree>
    <p:extLst>
      <p:ext uri="{BB962C8B-B14F-4D97-AF65-F5344CB8AC3E}">
        <p14:creationId xmlns:p14="http://schemas.microsoft.com/office/powerpoint/2010/main" val="4003492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26A1-B17A-A2F9-DC4E-B1333A571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D43CA-7C71-4243-1612-C05F276E5CB7}"/>
              </a:ext>
            </a:extLst>
          </p:cNvPr>
          <p:cNvSpPr>
            <a:spLocks noGrp="1"/>
          </p:cNvSpPr>
          <p:nvPr>
            <p:ph type="title"/>
          </p:nvPr>
        </p:nvSpPr>
        <p:spPr/>
        <p:txBody>
          <a:bodyPr/>
          <a:lstStyle/>
          <a:p>
            <a:r>
              <a:rPr lang="en-US" dirty="0"/>
              <a:t>Visual Results – 3D front view image</a:t>
            </a:r>
          </a:p>
        </p:txBody>
      </p:sp>
      <p:pic>
        <p:nvPicPr>
          <p:cNvPr id="6" name="Content Placeholder 5">
            <a:extLst>
              <a:ext uri="{FF2B5EF4-FFF2-40B4-BE49-F238E27FC236}">
                <a16:creationId xmlns:a16="http://schemas.microsoft.com/office/drawing/2014/main" id="{A46D3657-2AE6-35E6-CFBD-FF203A5375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873" y="1716088"/>
            <a:ext cx="6123516" cy="4592637"/>
          </a:xfrm>
        </p:spPr>
      </p:pic>
      <p:sp>
        <p:nvSpPr>
          <p:cNvPr id="9" name="TextBox 8">
            <a:extLst>
              <a:ext uri="{FF2B5EF4-FFF2-40B4-BE49-F238E27FC236}">
                <a16:creationId xmlns:a16="http://schemas.microsoft.com/office/drawing/2014/main" id="{459114EE-1BB9-495C-0522-796478A1D9C4}"/>
              </a:ext>
            </a:extLst>
          </p:cNvPr>
          <p:cNvSpPr txBox="1"/>
          <p:nvPr/>
        </p:nvSpPr>
        <p:spPr>
          <a:xfrm>
            <a:off x="2781300" y="1357732"/>
            <a:ext cx="6096000" cy="646331"/>
          </a:xfrm>
          <a:prstGeom prst="rect">
            <a:avLst/>
          </a:prstGeom>
          <a:noFill/>
        </p:spPr>
        <p:txBody>
          <a:bodyPr wrap="square">
            <a:spAutoFit/>
          </a:bodyPr>
          <a:lstStyle/>
          <a:p>
            <a:r>
              <a:rPr lang="en-US" dirty="0"/>
              <a:t>3D visualization of labeled tumor region (red) overlayed on the brain (blue). This is a ground truth label. </a:t>
            </a:r>
          </a:p>
        </p:txBody>
      </p:sp>
    </p:spTree>
    <p:extLst>
      <p:ext uri="{BB962C8B-B14F-4D97-AF65-F5344CB8AC3E}">
        <p14:creationId xmlns:p14="http://schemas.microsoft.com/office/powerpoint/2010/main" val="3902757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5860-5972-55C2-12CA-093A9E1F40DB}"/>
              </a:ext>
            </a:extLst>
          </p:cNvPr>
          <p:cNvSpPr>
            <a:spLocks noGrp="1"/>
          </p:cNvSpPr>
          <p:nvPr>
            <p:ph type="title"/>
          </p:nvPr>
        </p:nvSpPr>
        <p:spPr/>
        <p:txBody>
          <a:bodyPr/>
          <a:lstStyle/>
          <a:p>
            <a:r>
              <a:rPr lang="en-US" dirty="0"/>
              <a:t>Achievements</a:t>
            </a:r>
          </a:p>
        </p:txBody>
      </p:sp>
      <p:sp>
        <p:nvSpPr>
          <p:cNvPr id="6" name="Rectangle 3">
            <a:extLst>
              <a:ext uri="{FF2B5EF4-FFF2-40B4-BE49-F238E27FC236}">
                <a16:creationId xmlns:a16="http://schemas.microsoft.com/office/drawing/2014/main" id="{AAC579B6-5472-F613-CAE9-527B2924CAC5}"/>
              </a:ext>
            </a:extLst>
          </p:cNvPr>
          <p:cNvSpPr>
            <a:spLocks noGrp="1" noChangeArrowheads="1"/>
          </p:cNvSpPr>
          <p:nvPr>
            <p:ph idx="1"/>
          </p:nvPr>
        </p:nvSpPr>
        <p:spPr bwMode="auto">
          <a:xfrm>
            <a:off x="612648" y="1114769"/>
            <a:ext cx="11313463"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Technical Milestones</a:t>
            </a:r>
          </a:p>
          <a:p>
            <a:pPr marL="2286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End-to-End 3D Segmentation Pipeline</a:t>
            </a:r>
            <a:r>
              <a:rPr kumimoji="0" lang="en-US" altLang="en-US" sz="1600" b="0" i="0" u="none" strike="noStrike" cap="none" normalizeH="0" baseline="0" dirty="0">
                <a:ln>
                  <a:noFill/>
                </a:ln>
                <a:solidFill>
                  <a:schemeClr val="tx1"/>
                </a:solidFill>
                <a:effectLst/>
                <a:latin typeface="Arial" panose="020B0604020202020204" pitchFamily="34" charset="0"/>
              </a:rPr>
              <a:t>:</a:t>
            </a: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Successfully implemented a full deep learning pipeline — preprocessing, training, validation, and testing — for 3D MRI brain tumor segmentation.</a:t>
            </a:r>
          </a:p>
          <a:p>
            <a:pPr marL="2286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Custom 3D U-Net Implementation</a:t>
            </a:r>
            <a:r>
              <a:rPr kumimoji="0" lang="en-US" altLang="en-US" sz="1600" b="0" i="0" u="none" strike="noStrike" cap="none" normalizeH="0" baseline="0" dirty="0">
                <a:ln>
                  <a:noFill/>
                </a:ln>
                <a:solidFill>
                  <a:schemeClr val="tx1"/>
                </a:solidFill>
                <a:effectLst/>
                <a:latin typeface="Arial" panose="020B0604020202020204" pitchFamily="34" charset="0"/>
              </a:rPr>
              <a:t>:</a:t>
            </a: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Designed and trained a volumetric U-Net architecture from scratch with modular building blocks (</a:t>
            </a:r>
            <a:r>
              <a:rPr kumimoji="0" lang="en-US" altLang="en-US" sz="1600" b="0" i="0" u="none" strike="noStrike" cap="none" normalizeH="0" baseline="0" dirty="0" err="1">
                <a:ln>
                  <a:noFill/>
                </a:ln>
                <a:solidFill>
                  <a:schemeClr val="tx1"/>
                </a:solidFill>
                <a:effectLst/>
                <a:latin typeface="Arial" panose="020B0604020202020204" pitchFamily="34" charset="0"/>
              </a:rPr>
              <a:t>ConvBlock</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2286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Multi-Class Tumor Segmentation</a:t>
            </a:r>
            <a:r>
              <a:rPr kumimoji="0" lang="en-US" altLang="en-US" sz="1600" b="0" i="0" u="none" strike="noStrike" cap="none" normalizeH="0" baseline="0" dirty="0">
                <a:ln>
                  <a:noFill/>
                </a:ln>
                <a:solidFill>
                  <a:schemeClr val="tx1"/>
                </a:solidFill>
                <a:effectLst/>
                <a:latin typeface="Arial" panose="020B0604020202020204" pitchFamily="34" charset="0"/>
              </a:rPr>
              <a:t>:</a:t>
            </a: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Model predicts </a:t>
            </a:r>
            <a:r>
              <a:rPr kumimoji="0" lang="en-US" altLang="en-US" sz="1600" b="0" i="1" u="none" strike="noStrike" cap="none" normalizeH="0" baseline="0" dirty="0">
                <a:ln>
                  <a:noFill/>
                </a:ln>
                <a:solidFill>
                  <a:schemeClr val="tx1"/>
                </a:solidFill>
                <a:effectLst/>
                <a:latin typeface="Arial" panose="020B0604020202020204" pitchFamily="34" charset="0"/>
              </a:rPr>
              <a:t>three distinct tumor regions</a:t>
            </a:r>
            <a:r>
              <a:rPr kumimoji="0" lang="en-US" altLang="en-US" sz="1600" b="0" i="0" u="none" strike="noStrike" cap="none" normalizeH="0" baseline="0" dirty="0">
                <a:ln>
                  <a:noFill/>
                </a:ln>
                <a:solidFill>
                  <a:schemeClr val="tx1"/>
                </a:solidFill>
                <a:effectLst/>
                <a:latin typeface="Arial" panose="020B0604020202020204" pitchFamily="34" charset="0"/>
              </a:rPr>
              <a:t> (NCR, ED, ET) simultaneously</a:t>
            </a:r>
          </a:p>
          <a:p>
            <a:pPr marL="457200" lvl="2" indent="0" eaLnBrk="0" fontAlgn="base" hangingPunct="0">
              <a:lnSpc>
                <a:spcPct val="100000"/>
              </a:lnSpc>
              <a:spcBef>
                <a:spcPct val="0"/>
              </a:spcBef>
              <a:spcAft>
                <a:spcPct val="0"/>
              </a:spcAft>
              <a:buFontTx/>
              <a:buChar char="•"/>
            </a:pPr>
            <a:endParaRPr lang="en-US" altLang="en-US" sz="14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Performance Highlights</a:t>
            </a:r>
          </a:p>
          <a:p>
            <a:pPr marL="2286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Achieved overall test Dice score of 0.9271. </a:t>
            </a:r>
          </a:p>
          <a:p>
            <a:pPr marL="2286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High per-class accuracy for NCR (0.9633) and strong ET segmentation improvement compared to random baseline.</a:t>
            </a:r>
          </a:p>
          <a:p>
            <a:pPr marL="2286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Stable validation Dice &gt; 0.99 for most epochs — indicating good convergence and strong generalization to validation data.</a:t>
            </a:r>
          </a:p>
          <a:p>
            <a:pPr marL="228600" lvl="1" indent="0" eaLnBrk="0" fontAlgn="base" hangingPunct="0">
              <a:lnSpc>
                <a:spcPct val="100000"/>
              </a:lnSpc>
              <a:spcBef>
                <a:spcPct val="0"/>
              </a:spcBef>
              <a:spcAft>
                <a:spcPct val="0"/>
              </a:spcAft>
              <a:buFontTx/>
              <a:buChar char="•"/>
            </a:pPr>
            <a:endParaRPr lang="en-US" altLang="en-US" sz="16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Optimization Wins</a:t>
            </a:r>
          </a:p>
          <a:p>
            <a:pPr marL="228600" lvl="1"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Successfully trained without catastrophic overfitting despite high model capacity. </a:t>
            </a:r>
          </a:p>
          <a:p>
            <a:pPr marL="2286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Reduced validation loss steadily over training. </a:t>
            </a:r>
          </a:p>
          <a:p>
            <a:pPr marL="228600" lvl="1" indent="0" eaLnBrk="0" fontAlgn="base" hangingPunct="0">
              <a:lnSpc>
                <a:spcPct val="100000"/>
              </a:lnSpc>
              <a:spcBef>
                <a:spcPct val="0"/>
              </a:spcBef>
              <a:spcAft>
                <a:spcPct val="0"/>
              </a:spcAft>
              <a:buFontTx/>
              <a:buChar char="•"/>
            </a:pPr>
            <a:endParaRPr lang="en-US" altLang="en-US" sz="16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Practical &amp; Research Value</a:t>
            </a:r>
          </a:p>
          <a:p>
            <a:pPr marL="2286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Visualizations tools built for side-by-side ground truth vs prediction – enabling qualitative inspection.</a:t>
            </a:r>
          </a:p>
          <a:p>
            <a:pPr marL="228600" lvl="1"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Framework adaptable for medical image segmentation beyond brain tumors (e.g. organs, other lesions).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482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837C8-E40B-EA52-DD78-F08824A7E280}"/>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9E8748C0-B18A-A589-58FD-5AF762D956C1}"/>
              </a:ext>
            </a:extLst>
          </p:cNvPr>
          <p:cNvSpPr>
            <a:spLocks noGrp="1"/>
          </p:cNvSpPr>
          <p:nvPr>
            <p:ph idx="1"/>
          </p:nvPr>
        </p:nvSpPr>
        <p:spPr/>
        <p:txBody>
          <a:bodyPr/>
          <a:lstStyle/>
          <a:p>
            <a:r>
              <a:rPr lang="en-US" b="1" dirty="0"/>
              <a:t>Class imbalance (ED class Dice was low):</a:t>
            </a:r>
          </a:p>
          <a:p>
            <a:pPr lvl="1"/>
            <a:r>
              <a:rPr lang="en-US" b="1" dirty="0"/>
              <a:t>Severe imbalance</a:t>
            </a:r>
            <a:r>
              <a:rPr lang="en-US" dirty="0"/>
              <a:t>: Background dominates, ED class extremely poor</a:t>
            </a:r>
          </a:p>
          <a:p>
            <a:pPr lvl="1"/>
            <a:r>
              <a:rPr lang="en-US" b="1" dirty="0"/>
              <a:t>Possible Solutions</a:t>
            </a:r>
            <a:r>
              <a:rPr lang="en-US" dirty="0"/>
              <a:t>: Class weighting, focal loss, data augmentation, increased training size. </a:t>
            </a:r>
          </a:p>
          <a:p>
            <a:r>
              <a:rPr lang="en-US" b="1" dirty="0"/>
              <a:t>Overfitting risk (small dataset):</a:t>
            </a:r>
          </a:p>
          <a:p>
            <a:pPr lvl="1"/>
            <a:r>
              <a:rPr lang="en-US" b="1" dirty="0"/>
              <a:t>Dataset size</a:t>
            </a:r>
            <a:r>
              <a:rPr lang="en-US" dirty="0"/>
              <a:t>: 100 patients (small for medical imaging)</a:t>
            </a:r>
          </a:p>
          <a:p>
            <a:pPr lvl="1"/>
            <a:r>
              <a:rPr lang="en-US" b="1" dirty="0"/>
              <a:t>Mitigation</a:t>
            </a:r>
            <a:r>
              <a:rPr lang="en-US" dirty="0"/>
              <a:t>: Data augmentation, regularization, early stopping</a:t>
            </a:r>
          </a:p>
          <a:p>
            <a:r>
              <a:rPr lang="en-US" b="1" dirty="0"/>
              <a:t>Hardware limitations (CUDA OOMs, batch size 1):</a:t>
            </a:r>
          </a:p>
          <a:p>
            <a:pPr lvl="1"/>
            <a:r>
              <a:rPr lang="en-US" b="1" dirty="0"/>
              <a:t>Memory constraints</a:t>
            </a:r>
            <a:r>
              <a:rPr lang="en-US" dirty="0"/>
              <a:t>: Batch size limited to 1 </a:t>
            </a:r>
          </a:p>
          <a:p>
            <a:pPr lvl="1"/>
            <a:r>
              <a:rPr lang="en-US" dirty="0"/>
              <a:t>VRAM (GPU Memory) 7 GB </a:t>
            </a:r>
          </a:p>
          <a:p>
            <a:pPr lvl="1"/>
            <a:r>
              <a:rPr lang="en-US" b="1" dirty="0"/>
              <a:t>Solutions</a:t>
            </a:r>
            <a:r>
              <a:rPr lang="en-US" dirty="0"/>
              <a:t>: Gradient checkpointing, mixed precision, memory management</a:t>
            </a:r>
          </a:p>
          <a:p>
            <a:endParaRPr lang="en-US" dirty="0"/>
          </a:p>
        </p:txBody>
      </p:sp>
    </p:spTree>
    <p:extLst>
      <p:ext uri="{BB962C8B-B14F-4D97-AF65-F5344CB8AC3E}">
        <p14:creationId xmlns:p14="http://schemas.microsoft.com/office/powerpoint/2010/main" val="1410320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A2347-4436-BE27-0FA0-FDB99F170F62}"/>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A2A9DCE5-B78B-4BE2-0531-51DB3132F861}"/>
              </a:ext>
            </a:extLst>
          </p:cNvPr>
          <p:cNvSpPr>
            <a:spLocks noGrp="1"/>
          </p:cNvSpPr>
          <p:nvPr>
            <p:ph idx="1"/>
          </p:nvPr>
        </p:nvSpPr>
        <p:spPr>
          <a:xfrm>
            <a:off x="612647" y="1715532"/>
            <a:ext cx="10653579" cy="3897868"/>
          </a:xfrm>
        </p:spPr>
        <p:txBody>
          <a:bodyPr>
            <a:normAutofit/>
          </a:bodyPr>
          <a:lstStyle/>
          <a:p>
            <a:pPr>
              <a:spcBef>
                <a:spcPts val="150"/>
              </a:spcBef>
              <a:spcAft>
                <a:spcPts val="150"/>
              </a:spcAft>
              <a:buFont typeface="Arial" panose="020B0604020202020204" pitchFamily="34" charset="0"/>
              <a:buChar char="•"/>
            </a:pPr>
            <a:r>
              <a:rPr lang="en-US" b="1" dirty="0">
                <a:effectLst/>
              </a:rPr>
              <a:t>Model Parameter Tuning:</a:t>
            </a:r>
          </a:p>
          <a:p>
            <a:pPr lvl="1">
              <a:spcBef>
                <a:spcPts val="150"/>
              </a:spcBef>
              <a:spcAft>
                <a:spcPts val="150"/>
              </a:spcAft>
            </a:pPr>
            <a:r>
              <a:rPr lang="en-US" dirty="0"/>
              <a:t>L</a:t>
            </a:r>
            <a:r>
              <a:rPr lang="en-US" dirty="0">
                <a:effectLst/>
              </a:rPr>
              <a:t>arger batch sizes with more GPU memory, more workers.</a:t>
            </a:r>
          </a:p>
          <a:p>
            <a:pPr lvl="1">
              <a:spcBef>
                <a:spcPts val="150"/>
              </a:spcBef>
              <a:spcAft>
                <a:spcPts val="150"/>
              </a:spcAft>
            </a:pPr>
            <a:r>
              <a:rPr lang="en-US" dirty="0">
                <a:effectLst/>
              </a:rPr>
              <a:t>Divert some focus to Edema class during training to </a:t>
            </a:r>
            <a:r>
              <a:rPr lang="en-US" dirty="0"/>
              <a:t>increase overall accuracy.</a:t>
            </a:r>
          </a:p>
          <a:p>
            <a:pPr lvl="1">
              <a:spcBef>
                <a:spcPts val="150"/>
              </a:spcBef>
              <a:spcAft>
                <a:spcPts val="150"/>
              </a:spcAft>
            </a:pPr>
            <a:r>
              <a:rPr lang="en-US" dirty="0">
                <a:effectLst/>
              </a:rPr>
              <a:t>Increase the base learning rate for early training. </a:t>
            </a:r>
          </a:p>
          <a:p>
            <a:pPr>
              <a:spcBef>
                <a:spcPts val="150"/>
              </a:spcBef>
              <a:spcAft>
                <a:spcPts val="150"/>
              </a:spcAft>
              <a:buFont typeface="Arial" panose="020B0604020202020204" pitchFamily="34" charset="0"/>
              <a:buChar char="•"/>
            </a:pPr>
            <a:r>
              <a:rPr lang="en-US" b="1" dirty="0">
                <a:effectLst/>
              </a:rPr>
              <a:t>Increase Data Set Size:</a:t>
            </a:r>
          </a:p>
          <a:p>
            <a:pPr lvl="1">
              <a:spcBef>
                <a:spcPts val="150"/>
              </a:spcBef>
              <a:spcAft>
                <a:spcPts val="150"/>
              </a:spcAft>
            </a:pPr>
            <a:r>
              <a:rPr lang="en-US" dirty="0"/>
              <a:t>The current subset dataset has a total population of 100 patient volumes. Of which 70 volumes are used for training, 20 are used for validation, and 10 are used for training. </a:t>
            </a:r>
          </a:p>
          <a:p>
            <a:pPr lvl="1">
              <a:spcBef>
                <a:spcPts val="150"/>
              </a:spcBef>
              <a:spcAft>
                <a:spcPts val="150"/>
              </a:spcAft>
            </a:pPr>
            <a:r>
              <a:rPr lang="en-US" dirty="0">
                <a:effectLst/>
              </a:rPr>
              <a:t>Increasing the dataset to the entire population would increase the total unique exposure to various classes. </a:t>
            </a:r>
          </a:p>
        </p:txBody>
      </p:sp>
    </p:spTree>
    <p:extLst>
      <p:ext uri="{BB962C8B-B14F-4D97-AF65-F5344CB8AC3E}">
        <p14:creationId xmlns:p14="http://schemas.microsoft.com/office/powerpoint/2010/main" val="2456964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0DF38-1FCA-BF3C-F27E-FB250F66B53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56BE7A9-A1AF-BD71-F55D-02ADB823AF97}"/>
              </a:ext>
            </a:extLst>
          </p:cNvPr>
          <p:cNvSpPr>
            <a:spLocks noGrp="1"/>
          </p:cNvSpPr>
          <p:nvPr>
            <p:ph idx="1"/>
          </p:nvPr>
        </p:nvSpPr>
        <p:spPr/>
        <p:txBody>
          <a:bodyPr>
            <a:normAutofit fontScale="85000" lnSpcReduction="20000"/>
          </a:bodyPr>
          <a:lstStyle/>
          <a:p>
            <a:r>
              <a:rPr lang="en-US" b="1" dirty="0"/>
              <a:t>Recap: Built 3D tumor segmentation with high Dice on NCR/ET:</a:t>
            </a:r>
          </a:p>
          <a:p>
            <a:pPr lvl="1"/>
            <a:r>
              <a:rPr lang="en-US" b="1" dirty="0"/>
              <a:t>Success</a:t>
            </a:r>
            <a:r>
              <a:rPr lang="en-US" dirty="0"/>
              <a:t>: Excellent performance on background (99.47%) and necrotic regions (96.33%)</a:t>
            </a:r>
          </a:p>
          <a:p>
            <a:pPr lvl="1"/>
            <a:r>
              <a:rPr lang="en-US" dirty="0"/>
              <a:t>Notable: moderate performance on Enhancing Tumor (ET) region (42.xx %)</a:t>
            </a:r>
          </a:p>
          <a:p>
            <a:pPr lvl="1"/>
            <a:r>
              <a:rPr lang="en-US" b="1" dirty="0"/>
              <a:t>Challenge</a:t>
            </a:r>
            <a:r>
              <a:rPr lang="en-US" dirty="0"/>
              <a:t>: Poor performance on edema (0.0073%) due to class imbalance</a:t>
            </a:r>
          </a:p>
          <a:p>
            <a:r>
              <a:rPr lang="en-US" b="1" dirty="0"/>
              <a:t>Significance: Could enhance clinical workflows:</a:t>
            </a:r>
          </a:p>
          <a:p>
            <a:pPr lvl="1"/>
            <a:r>
              <a:rPr lang="en-US" b="1" dirty="0"/>
              <a:t>Automated segmentation</a:t>
            </a:r>
            <a:r>
              <a:rPr lang="en-US" dirty="0"/>
              <a:t>: Reduces manual annotation time</a:t>
            </a:r>
          </a:p>
          <a:p>
            <a:pPr lvl="1"/>
            <a:r>
              <a:rPr lang="en-US" b="1" dirty="0"/>
              <a:t>Multi-modal analysis</a:t>
            </a:r>
            <a:r>
              <a:rPr lang="en-US" dirty="0"/>
              <a:t>: Uses all 4 MRI modalities simultaneously</a:t>
            </a:r>
          </a:p>
          <a:p>
            <a:pPr lvl="1"/>
            <a:r>
              <a:rPr lang="en-US" b="1" dirty="0"/>
              <a:t>Early</a:t>
            </a:r>
            <a:r>
              <a:rPr lang="en-US" dirty="0"/>
              <a:t> </a:t>
            </a:r>
            <a:r>
              <a:rPr lang="en-US" b="1" dirty="0"/>
              <a:t>Detection</a:t>
            </a:r>
            <a:r>
              <a:rPr lang="en-US" dirty="0"/>
              <a:t>: With supervised learning of specific feature(s), the model has potential to accurately detect enhancing tumors. </a:t>
            </a:r>
          </a:p>
          <a:p>
            <a:pPr lvl="1"/>
            <a:r>
              <a:rPr lang="en-US" b="1" dirty="0"/>
              <a:t>3D visualization</a:t>
            </a:r>
            <a:r>
              <a:rPr lang="en-US" dirty="0"/>
              <a:t>: Provides volumetric tumor analysis</a:t>
            </a:r>
          </a:p>
          <a:p>
            <a:r>
              <a:rPr lang="en-US" b="1" dirty="0"/>
              <a:t>What you learned / how this connects to your future work:</a:t>
            </a:r>
          </a:p>
          <a:p>
            <a:pPr lvl="1"/>
            <a:r>
              <a:rPr lang="en-US" b="1" dirty="0"/>
              <a:t>3D medical imaging</a:t>
            </a:r>
            <a:r>
              <a:rPr lang="en-US" dirty="0"/>
              <a:t>: Experience with volumetric data processing</a:t>
            </a:r>
          </a:p>
          <a:p>
            <a:pPr lvl="1"/>
            <a:r>
              <a:rPr lang="en-US" b="1" dirty="0"/>
              <a:t>Class imbalance</a:t>
            </a:r>
            <a:r>
              <a:rPr lang="en-US" dirty="0"/>
              <a:t>: Understanding of medical imaging challenges</a:t>
            </a:r>
          </a:p>
          <a:p>
            <a:pPr lvl="1"/>
            <a:r>
              <a:rPr lang="en-US" b="1" dirty="0"/>
              <a:t>Memory optimization</a:t>
            </a:r>
            <a:r>
              <a:rPr lang="en-US" dirty="0"/>
              <a:t>: Techniques for large 3D model training</a:t>
            </a:r>
          </a:p>
          <a:p>
            <a:pPr lvl="1"/>
            <a:r>
              <a:rPr lang="en-US" b="1" dirty="0"/>
              <a:t>Clinical relevance</a:t>
            </a:r>
            <a:r>
              <a:rPr lang="en-US" dirty="0"/>
              <a:t>: Real-world medical imaging applications</a:t>
            </a:r>
          </a:p>
          <a:p>
            <a:endParaRPr lang="en-US" dirty="0"/>
          </a:p>
        </p:txBody>
      </p:sp>
    </p:spTree>
    <p:extLst>
      <p:ext uri="{BB962C8B-B14F-4D97-AF65-F5344CB8AC3E}">
        <p14:creationId xmlns:p14="http://schemas.microsoft.com/office/powerpoint/2010/main" val="513620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CFCC2D-AB3B-085D-B2A9-5E7CA0DA7F3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1FBDE40-BB54-5436-9E45-C560455A4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A web of dots connected">
            <a:extLst>
              <a:ext uri="{FF2B5EF4-FFF2-40B4-BE49-F238E27FC236}">
                <a16:creationId xmlns:a16="http://schemas.microsoft.com/office/drawing/2014/main" id="{2B649213-4FAF-7D0E-058D-B6CDEFA2A20D}"/>
              </a:ext>
            </a:extLst>
          </p:cNvPr>
          <p:cNvPicPr>
            <a:picLocks noChangeAspect="1"/>
          </p:cNvPicPr>
          <p:nvPr/>
        </p:nvPicPr>
        <p:blipFill>
          <a:blip r:embed="rId2"/>
          <a:srcRect l="20444" r="1"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44CAD41E-66A7-7C21-77E6-2C36155D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14416"/>
            <a:ext cx="12191999" cy="1243584"/>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61C469A-13C2-26A1-2C79-AF8C87A61598}"/>
              </a:ext>
            </a:extLst>
          </p:cNvPr>
          <p:cNvSpPr>
            <a:spLocks noGrp="1"/>
          </p:cNvSpPr>
          <p:nvPr>
            <p:ph type="ctrTitle"/>
          </p:nvPr>
        </p:nvSpPr>
        <p:spPr>
          <a:xfrm>
            <a:off x="317500" y="1074326"/>
            <a:ext cx="10096500" cy="960120"/>
          </a:xfrm>
        </p:spPr>
        <p:txBody>
          <a:bodyPr anchor="ctr">
            <a:normAutofit/>
          </a:bodyPr>
          <a:lstStyle/>
          <a:p>
            <a:pPr algn="l"/>
            <a:r>
              <a:rPr lang="en-US" dirty="0">
                <a:solidFill>
                  <a:schemeClr val="bg1"/>
                </a:solidFill>
              </a:rPr>
              <a:t>Bibliography</a:t>
            </a:r>
          </a:p>
        </p:txBody>
      </p:sp>
      <p:sp>
        <p:nvSpPr>
          <p:cNvPr id="3" name="TextBox 2">
            <a:extLst>
              <a:ext uri="{FF2B5EF4-FFF2-40B4-BE49-F238E27FC236}">
                <a16:creationId xmlns:a16="http://schemas.microsoft.com/office/drawing/2014/main" id="{6437C13A-BE59-C328-AA70-A057C2BECBCC}"/>
              </a:ext>
            </a:extLst>
          </p:cNvPr>
          <p:cNvSpPr txBox="1"/>
          <p:nvPr/>
        </p:nvSpPr>
        <p:spPr>
          <a:xfrm>
            <a:off x="317500" y="1943100"/>
            <a:ext cx="10807700" cy="646331"/>
          </a:xfrm>
          <a:prstGeom prst="rect">
            <a:avLst/>
          </a:prstGeom>
          <a:noFill/>
        </p:spPr>
        <p:txBody>
          <a:bodyPr wrap="square" rtlCol="0">
            <a:spAutoFit/>
          </a:bodyPr>
          <a:lstStyle/>
          <a:p>
            <a:r>
              <a:rPr lang="en-US" dirty="0">
                <a:solidFill>
                  <a:schemeClr val="bg1"/>
                </a:solidFill>
              </a:rPr>
              <a:t>Perelman School of Medicine, University of Pennsylvania – Brats </a:t>
            </a:r>
            <a:r>
              <a:rPr lang="en-US" dirty="0" err="1">
                <a:solidFill>
                  <a:schemeClr val="bg1"/>
                </a:solidFill>
              </a:rPr>
              <a:t>Miccai</a:t>
            </a:r>
            <a:r>
              <a:rPr lang="en-US" dirty="0">
                <a:solidFill>
                  <a:schemeClr val="bg1"/>
                </a:solidFill>
              </a:rPr>
              <a:t> Dataset </a:t>
            </a:r>
          </a:p>
          <a:p>
            <a:r>
              <a:rPr lang="en-US" dirty="0">
                <a:solidFill>
                  <a:schemeClr val="bg1"/>
                </a:solidFill>
              </a:rPr>
              <a:t>Nih.gov – Descriptive information in the </a:t>
            </a:r>
            <a:r>
              <a:rPr lang="en-US" dirty="0" err="1">
                <a:solidFill>
                  <a:schemeClr val="bg1"/>
                </a:solidFill>
              </a:rPr>
              <a:t>powerpoint</a:t>
            </a:r>
            <a:r>
              <a:rPr lang="en-US" dirty="0">
                <a:solidFill>
                  <a:schemeClr val="bg1"/>
                </a:solidFill>
              </a:rPr>
              <a:t>. </a:t>
            </a:r>
          </a:p>
        </p:txBody>
      </p:sp>
    </p:spTree>
    <p:extLst>
      <p:ext uri="{BB962C8B-B14F-4D97-AF65-F5344CB8AC3E}">
        <p14:creationId xmlns:p14="http://schemas.microsoft.com/office/powerpoint/2010/main" val="130590254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10706</TotalTime>
  <Words>2672</Words>
  <Application>Microsoft Office PowerPoint</Application>
  <PresentationFormat>Widescreen</PresentationFormat>
  <Paragraphs>254</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Consolas</vt:lpstr>
      <vt:lpstr>Neue Haas Grotesk Text Pro</vt:lpstr>
      <vt:lpstr>Wingdings</vt:lpstr>
      <vt:lpstr>VanillaVTI</vt:lpstr>
      <vt:lpstr>3D Brain Tumor Segmentation with UNet3D </vt:lpstr>
      <vt:lpstr>What is Brain Image or MRI Segmentation?</vt:lpstr>
      <vt:lpstr>MRI Context and Information</vt:lpstr>
      <vt:lpstr>What’s the Problem?</vt:lpstr>
      <vt:lpstr>Objective</vt:lpstr>
      <vt:lpstr>Real World Application</vt:lpstr>
      <vt:lpstr>Dataset and Preprocessing</vt:lpstr>
      <vt:lpstr>Model Architecture</vt:lpstr>
      <vt:lpstr>Model Architecture</vt:lpstr>
      <vt:lpstr>Cross Entropy Loss Context</vt:lpstr>
      <vt:lpstr>Dice Loss and Score</vt:lpstr>
      <vt:lpstr>Data Loading and Training Setup</vt:lpstr>
      <vt:lpstr>Metrics</vt:lpstr>
      <vt:lpstr>Metrics</vt:lpstr>
      <vt:lpstr>Visual Results</vt:lpstr>
      <vt:lpstr>Visual Results - 3D rotation animation view</vt:lpstr>
      <vt:lpstr>Visual Results – 3D angled view image</vt:lpstr>
      <vt:lpstr>Visual Results – 3D top-down view image</vt:lpstr>
      <vt:lpstr>Visual Results – 3D side view image</vt:lpstr>
      <vt:lpstr>Visual Results – 3D front view image</vt:lpstr>
      <vt:lpstr>Achievements</vt:lpstr>
      <vt:lpstr>Challenges</vt:lpstr>
      <vt:lpstr>Future Work</vt:lpstr>
      <vt:lpstr>Conclusion</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Maan</dc:creator>
  <cp:lastModifiedBy>Abhishek Maan</cp:lastModifiedBy>
  <cp:revision>17</cp:revision>
  <dcterms:created xsi:type="dcterms:W3CDTF">2025-08-01T21:53:47Z</dcterms:created>
  <dcterms:modified xsi:type="dcterms:W3CDTF">2025-08-12T23:28:57Z</dcterms:modified>
</cp:coreProperties>
</file>